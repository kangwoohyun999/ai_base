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A4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2A4A"/>
                </a:solidFill>
                <a:latin typeface="Arial"/>
              </a:rPr>
              <a:t>에폭별 손실(Loss)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학습 손실</c:v>
                </c:pt>
              </c:strCache>
            </c:strRef>
          </c:tx>
          <c:spPr>
            <a:solidFill>
              <a:srgbClr val="F87171"/>
            </a:solidFill>
            <a:ln w="31750" cap="flat">
              <a:solidFill>
                <a:srgbClr val="F8717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87171"/>
              </a:solidFill>
              <a:ln w="9525" cap="flat">
                <a:solidFill>
                  <a:srgbClr val="F8717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1.52</c:v>
                </c:pt>
                <c:pt idx="1">
                  <c:v>1.28</c:v>
                </c:pt>
                <c:pt idx="2">
                  <c:v>1.1</c:v>
                </c:pt>
                <c:pt idx="3">
                  <c:v>0.96</c:v>
                </c:pt>
                <c:pt idx="4">
                  <c:v>0.85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테스트 손실</c:v>
                </c:pt>
              </c:strCache>
            </c:strRef>
          </c:tx>
          <c:spPr>
            <a:solidFill>
              <a:srgbClr val="FB923C"/>
            </a:solidFill>
            <a:ln w="31750" cap="flat">
              <a:solidFill>
                <a:srgbClr val="FB923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B923C"/>
              </a:solidFill>
              <a:ln w="9525" cap="flat">
                <a:solidFill>
                  <a:srgbClr val="FB923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1.38</c:v>
                </c:pt>
                <c:pt idx="1">
                  <c:v>1.18</c:v>
                </c:pt>
                <c:pt idx="2">
                  <c:v>1.02</c:v>
                </c:pt>
                <c:pt idx="3">
                  <c:v>0.92</c:v>
                </c:pt>
                <c:pt idx="4">
                  <c:v>0.84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A4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2A4A"/>
                </a:solidFill>
                <a:latin typeface="Arial"/>
              </a:rPr>
              <a:t>에폭별 정확도(%)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학습 정확도 (%)</c:v>
                </c:pt>
              </c:strCache>
            </c:strRef>
          </c:tx>
          <c:spPr>
            <a:solidFill>
              <a:srgbClr val="F87171"/>
            </a:solidFill>
            <a:ln w="31750" cap="flat">
              <a:solidFill>
                <a:srgbClr val="F8717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87171"/>
              </a:solidFill>
              <a:ln w="9525" cap="flat">
                <a:solidFill>
                  <a:srgbClr val="F8717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42</c:v>
                </c:pt>
                <c:pt idx="1">
                  <c:v>55</c:v>
                </c:pt>
                <c:pt idx="2">
                  <c:v>64</c:v>
                </c:pt>
                <c:pt idx="3">
                  <c:v>71</c:v>
                </c:pt>
                <c:pt idx="4">
                  <c:v>76.5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테스트 정확도 (%)</c:v>
                </c:pt>
              </c:strCache>
            </c:strRef>
          </c:tx>
          <c:spPr>
            <a:solidFill>
              <a:srgbClr val="FB923C"/>
            </a:solidFill>
            <a:ln w="31750" cap="flat">
              <a:solidFill>
                <a:srgbClr val="FB923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B923C"/>
              </a:solidFill>
              <a:ln w="9525" cap="flat">
                <a:solidFill>
                  <a:srgbClr val="FB923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48</c:v>
                </c:pt>
                <c:pt idx="1">
                  <c:v>60</c:v>
                </c:pt>
                <c:pt idx="2">
                  <c:v>67</c:v>
                </c:pt>
                <c:pt idx="3">
                  <c:v>74</c:v>
                </c:pt>
                <c:pt idx="4">
                  <c:v>80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17920" y="-1097280"/>
            <a:ext cx="4754880" cy="4754880"/>
          </a:xfrm>
          <a:prstGeom prst="ellipse">
            <a:avLst/>
          </a:prstGeom>
          <a:solidFill>
            <a:srgbClr val="253458"/>
          </a:solidFill>
          <a:ln w="12700">
            <a:solidFill>
              <a:srgbClr val="25345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0" y="-365760"/>
            <a:ext cx="3474720" cy="3474720"/>
          </a:xfrm>
          <a:prstGeom prst="ellipse">
            <a:avLst/>
          </a:prstGeom>
          <a:solidFill>
            <a:srgbClr val="FB923C">
              <a:alpha val="18000"/>
            </a:srgbClr>
          </a:solidFill>
          <a:ln w="12700">
            <a:solidFill>
              <a:srgbClr val="FB923C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82880"/>
            <a:ext cx="1463040" cy="1463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11480" y="438912"/>
            <a:ext cx="8229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인공지능개론  |  기말 프로젝트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411480" y="1115568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합성곱 신경망(CNN)을 활용한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411480" y="1645920"/>
            <a:ext cx="7315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한국 음식 자동 분류</a:t>
            </a:r>
            <a:endParaRPr lang="en-US" sz="4200" dirty="0"/>
          </a:p>
        </p:txBody>
      </p:sp>
      <p:sp>
        <p:nvSpPr>
          <p:cNvPr id="8" name="Shape 5"/>
          <p:cNvSpPr/>
          <p:nvPr/>
        </p:nvSpPr>
        <p:spPr>
          <a:xfrm>
            <a:off x="411480" y="257860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11480" y="257860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Selenium 크롤링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1847088" y="257860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847088" y="257860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CNN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282696" y="257860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282696" y="257860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전/후 비교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411480" y="301752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빙(Bing) 이미지 자동 수집 → CNN 학습 → 5종 한국 음식 분류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11480" y="422452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강우현  202404178  |  인공지능융합공학부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발표 순서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365760" y="960120"/>
            <a:ext cx="4069080" cy="12984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65760" y="960120"/>
            <a:ext cx="548640" cy="1298448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362456"/>
            <a:ext cx="548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24128" y="1097280"/>
            <a:ext cx="33192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개요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24128" y="1527048"/>
            <a:ext cx="331927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목적 · Fashion MNIST와 차이점 · 전체 흐름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960120"/>
            <a:ext cx="4069080" cy="12984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63440" y="960120"/>
            <a:ext cx="548640" cy="1298448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3440" y="1362456"/>
            <a:ext cx="548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321808" y="1097280"/>
            <a:ext cx="33192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이미지 자동 수집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321808" y="1527048"/>
            <a:ext cx="331927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Selenium 크롤링 · Bing 검색 · 폴더 자동 생성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5760" y="2313432"/>
            <a:ext cx="4069080" cy="12984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65760" y="2313432"/>
            <a:ext cx="548640" cy="1298448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715768"/>
            <a:ext cx="548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24128" y="2450592"/>
            <a:ext cx="33192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모델 설계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24128" y="2880360"/>
            <a:ext cx="331927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아키텍처 · 하이퍼파라미터 · 경로 자동화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63440" y="2313432"/>
            <a:ext cx="4069080" cy="12984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4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2313432"/>
            <a:ext cx="548640" cy="1298448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63440" y="2715768"/>
            <a:ext cx="548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321808" y="2450592"/>
            <a:ext cx="33192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전/후 비교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321808" y="2880360"/>
            <a:ext cx="331927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랜덤 가중치 vs 학습 완료 인식률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65760" y="3666744"/>
            <a:ext cx="4069080" cy="12984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4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65760" y="3666744"/>
            <a:ext cx="548640" cy="1298448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4069080"/>
            <a:ext cx="548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24128" y="3803904"/>
            <a:ext cx="33192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결과 분석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024128" y="4233672"/>
            <a:ext cx="331927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Loss/Accuracy 곡선 · 혼동 행렬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663440" y="3666744"/>
            <a:ext cx="4069080" cy="12984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4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663440" y="3666744"/>
            <a:ext cx="548640" cy="1298448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63440" y="4069080"/>
            <a:ext cx="548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321808" y="3803904"/>
            <a:ext cx="33192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결론 및 기대 효과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321808" y="4233672"/>
            <a:ext cx="331927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성능 해석 · 크롤링 활용 의의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프로젝트 개요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20040" y="841248"/>
            <a:ext cx="1737360" cy="100584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4000"/>
              </a:srgbClr>
            </a:outerShdw>
          </a:effectLst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" y="914400"/>
            <a:ext cx="347472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77240" y="914400"/>
            <a:ext cx="12070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Bing 크롤링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393192" y="1408176"/>
            <a:ext cx="15910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food_crawling.py</a:t>
            </a:r>
            <a:endParaRPr lang="en-US" sz="9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1992" y="1188720"/>
            <a:ext cx="182880" cy="292608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2560320" y="841248"/>
            <a:ext cx="1737360" cy="10058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4000"/>
              </a:srgbClr>
            </a:outerShdw>
          </a:effectLst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3472" y="914400"/>
            <a:ext cx="347472" cy="34747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3017520" y="914400"/>
            <a:ext cx="12070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폴더 자동생성</a:t>
            </a:r>
            <a:endParaRPr lang="en-US" sz="1100" dirty="0"/>
          </a:p>
        </p:txBody>
      </p:sp>
      <p:sp>
        <p:nvSpPr>
          <p:cNvPr id="11" name="Text 6"/>
          <p:cNvSpPr/>
          <p:nvPr/>
        </p:nvSpPr>
        <p:spPr>
          <a:xfrm>
            <a:off x="2633472" y="1408176"/>
            <a:ext cx="15910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food_dataset/</a:t>
            </a:r>
            <a:endParaRPr lang="en-US" sz="9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62272" y="1188720"/>
            <a:ext cx="182880" cy="292608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4800600" y="841248"/>
            <a:ext cx="1737360" cy="10058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4000"/>
              </a:srgbClr>
            </a:outerShdw>
          </a:effectLst>
        </p:spPr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73752" y="914400"/>
            <a:ext cx="347472" cy="347472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5257800" y="914400"/>
            <a:ext cx="12070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학습</a:t>
            </a:r>
            <a:endParaRPr lang="en-US" sz="1100" dirty="0"/>
          </a:p>
        </p:txBody>
      </p:sp>
      <p:sp>
        <p:nvSpPr>
          <p:cNvPr id="16" name="Text 9"/>
          <p:cNvSpPr/>
          <p:nvPr/>
        </p:nvSpPr>
        <p:spPr>
          <a:xfrm>
            <a:off x="4873752" y="1408176"/>
            <a:ext cx="15910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food_classification</a:t>
            </a:r>
            <a:endParaRPr lang="en-US" sz="900" dirty="0"/>
          </a:p>
        </p:txBody>
      </p:sp>
      <p:pic>
        <p:nvPicPr>
          <p:cNvPr id="1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02552" y="1188720"/>
            <a:ext cx="182880" cy="292608"/>
          </a:xfrm>
          <a:prstGeom prst="rect">
            <a:avLst/>
          </a:prstGeom>
        </p:spPr>
      </p:pic>
      <p:sp>
        <p:nvSpPr>
          <p:cNvPr id="18" name="Shape 10"/>
          <p:cNvSpPr/>
          <p:nvPr/>
        </p:nvSpPr>
        <p:spPr>
          <a:xfrm>
            <a:off x="7040880" y="841248"/>
            <a:ext cx="1737360" cy="100584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4000"/>
              </a:srgbClr>
            </a:outerShdw>
          </a:effectLst>
        </p:spPr>
      </p:sp>
      <p:pic>
        <p:nvPicPr>
          <p:cNvPr id="1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14032" y="914400"/>
            <a:ext cx="347472" cy="347472"/>
          </a:xfrm>
          <a:prstGeom prst="rect">
            <a:avLst/>
          </a:prstGeom>
        </p:spPr>
      </p:pic>
      <p:sp>
        <p:nvSpPr>
          <p:cNvPr id="20" name="Text 11"/>
          <p:cNvSpPr/>
          <p:nvPr/>
        </p:nvSpPr>
        <p:spPr>
          <a:xfrm>
            <a:off x="7498080" y="914400"/>
            <a:ext cx="12070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 분석</a:t>
            </a:r>
            <a:endParaRPr lang="en-US" sz="1100" dirty="0"/>
          </a:p>
        </p:txBody>
      </p:sp>
      <p:sp>
        <p:nvSpPr>
          <p:cNvPr id="21" name="Text 12"/>
          <p:cNvSpPr/>
          <p:nvPr/>
        </p:nvSpPr>
        <p:spPr>
          <a:xfrm>
            <a:off x="7114032" y="1408176"/>
            <a:ext cx="15910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그래프 3종 저장</a:t>
            </a:r>
            <a:endParaRPr lang="en-US" sz="900" dirty="0"/>
          </a:p>
        </p:txBody>
      </p:sp>
      <p:sp>
        <p:nvSpPr>
          <p:cNvPr id="22" name="Shape 13"/>
          <p:cNvSpPr/>
          <p:nvPr/>
        </p:nvSpPr>
        <p:spPr>
          <a:xfrm>
            <a:off x="365760" y="2011680"/>
            <a:ext cx="3931920" cy="2834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4000"/>
              </a:srgbClr>
            </a:outerShdw>
          </a:effectLst>
        </p:spPr>
      </p:sp>
      <p:sp>
        <p:nvSpPr>
          <p:cNvPr id="23" name="Shape 14"/>
          <p:cNvSpPr/>
          <p:nvPr/>
        </p:nvSpPr>
        <p:spPr>
          <a:xfrm>
            <a:off x="365760" y="2011680"/>
            <a:ext cx="3931920" cy="38404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pic>
        <p:nvPicPr>
          <p:cNvPr id="2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5488" y="2066544"/>
            <a:ext cx="274320" cy="274320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841248" y="2066544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목적</a:t>
            </a:r>
            <a:endParaRPr lang="en-US" sz="1300" dirty="0"/>
          </a:p>
        </p:txBody>
      </p:sp>
      <p:sp>
        <p:nvSpPr>
          <p:cNvPr id="26" name="Text 16"/>
          <p:cNvSpPr/>
          <p:nvPr/>
        </p:nvSpPr>
        <p:spPr>
          <a:xfrm>
            <a:off x="548640" y="2505456"/>
            <a:ext cx="36118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Bing 이미지 자동 수집(크롤링)으로 데이터셋 구축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5종 한국 음식 CNN 자동 분류 모델 구현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전/후 인식률 정량 비교 검증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경로 자동화로 크롤링→학습 원스텝 실행</a:t>
            </a:r>
            <a:endParaRPr lang="en-US" sz="1100" dirty="0"/>
          </a:p>
        </p:txBody>
      </p:sp>
      <p:sp>
        <p:nvSpPr>
          <p:cNvPr id="27" name="Shape 17"/>
          <p:cNvSpPr/>
          <p:nvPr/>
        </p:nvSpPr>
        <p:spPr>
          <a:xfrm>
            <a:off x="4663440" y="2011680"/>
            <a:ext cx="4114800" cy="2834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4000"/>
              </a:srgbClr>
            </a:outerShdw>
          </a:effectLst>
        </p:spPr>
      </p:sp>
      <p:sp>
        <p:nvSpPr>
          <p:cNvPr id="28" name="Shape 18"/>
          <p:cNvSpPr/>
          <p:nvPr/>
        </p:nvSpPr>
        <p:spPr>
          <a:xfrm>
            <a:off x="4663440" y="2011680"/>
            <a:ext cx="4114800" cy="384048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pic>
        <p:nvPicPr>
          <p:cNvPr id="29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73168" y="2066544"/>
            <a:ext cx="274320" cy="274320"/>
          </a:xfrm>
          <a:prstGeom prst="rect">
            <a:avLst/>
          </a:prstGeom>
        </p:spPr>
      </p:pic>
      <p:sp>
        <p:nvSpPr>
          <p:cNvPr id="30" name="Text 19"/>
          <p:cNvSpPr/>
          <p:nvPr/>
        </p:nvSpPr>
        <p:spPr>
          <a:xfrm>
            <a:off x="5138928" y="2066544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Fashion MNIST와 차이점</a:t>
            </a:r>
            <a:endParaRPr lang="en-US" sz="1300" dirty="0"/>
          </a:p>
        </p:txBody>
      </p:sp>
      <p:sp>
        <p:nvSpPr>
          <p:cNvPr id="31" name="Shape 20"/>
          <p:cNvSpPr/>
          <p:nvPr/>
        </p:nvSpPr>
        <p:spPr>
          <a:xfrm>
            <a:off x="4736592" y="2487168"/>
            <a:ext cx="1115568" cy="347472"/>
          </a:xfrm>
          <a:prstGeom prst="rect">
            <a:avLst/>
          </a:prstGeom>
          <a:solidFill>
            <a:srgbClr val="E2E8F0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32" name="Text 21"/>
          <p:cNvSpPr/>
          <p:nvPr/>
        </p:nvSpPr>
        <p:spPr>
          <a:xfrm>
            <a:off x="4764024" y="2514600"/>
            <a:ext cx="10607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항목</a:t>
            </a:r>
            <a:endParaRPr lang="en-US" sz="900" dirty="0"/>
          </a:p>
        </p:txBody>
      </p:sp>
      <p:sp>
        <p:nvSpPr>
          <p:cNvPr id="33" name="Shape 22"/>
          <p:cNvSpPr/>
          <p:nvPr/>
        </p:nvSpPr>
        <p:spPr>
          <a:xfrm>
            <a:off x="5925312" y="2487168"/>
            <a:ext cx="1243584" cy="347472"/>
          </a:xfrm>
          <a:prstGeom prst="rect">
            <a:avLst/>
          </a:prstGeom>
          <a:solidFill>
            <a:srgbClr val="E2E8F0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34" name="Text 23"/>
          <p:cNvSpPr/>
          <p:nvPr/>
        </p:nvSpPr>
        <p:spPr>
          <a:xfrm>
            <a:off x="5952744" y="2514600"/>
            <a:ext cx="1188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Fashion MNIST</a:t>
            </a:r>
            <a:endParaRPr lang="en-US" sz="900" dirty="0"/>
          </a:p>
        </p:txBody>
      </p:sp>
      <p:sp>
        <p:nvSpPr>
          <p:cNvPr id="35" name="Shape 24"/>
          <p:cNvSpPr/>
          <p:nvPr/>
        </p:nvSpPr>
        <p:spPr>
          <a:xfrm>
            <a:off x="7205472" y="2487168"/>
            <a:ext cx="1517904" cy="347472"/>
          </a:xfrm>
          <a:prstGeom prst="rect">
            <a:avLst/>
          </a:prstGeom>
          <a:solidFill>
            <a:srgbClr val="E2E8F0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36" name="Text 25"/>
          <p:cNvSpPr/>
          <p:nvPr/>
        </p:nvSpPr>
        <p:spPr>
          <a:xfrm>
            <a:off x="7232904" y="251460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이번 프로젝트</a:t>
            </a:r>
            <a:endParaRPr lang="en-US" sz="900" dirty="0"/>
          </a:p>
        </p:txBody>
      </p:sp>
      <p:sp>
        <p:nvSpPr>
          <p:cNvPr id="37" name="Shape 26"/>
          <p:cNvSpPr/>
          <p:nvPr/>
        </p:nvSpPr>
        <p:spPr>
          <a:xfrm>
            <a:off x="4736592" y="2834640"/>
            <a:ext cx="1115568" cy="42062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38" name="Text 27"/>
          <p:cNvSpPr/>
          <p:nvPr/>
        </p:nvSpPr>
        <p:spPr>
          <a:xfrm>
            <a:off x="4773168" y="2880360"/>
            <a:ext cx="104241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수집</a:t>
            </a:r>
            <a:endParaRPr lang="en-US" sz="950" dirty="0"/>
          </a:p>
        </p:txBody>
      </p:sp>
      <p:sp>
        <p:nvSpPr>
          <p:cNvPr id="39" name="Shape 28"/>
          <p:cNvSpPr/>
          <p:nvPr/>
        </p:nvSpPr>
        <p:spPr>
          <a:xfrm>
            <a:off x="5925312" y="2834640"/>
            <a:ext cx="1243584" cy="42062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40" name="Text 29"/>
          <p:cNvSpPr/>
          <p:nvPr/>
        </p:nvSpPr>
        <p:spPr>
          <a:xfrm>
            <a:off x="5961888" y="2880360"/>
            <a:ext cx="117043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자동 다운로드</a:t>
            </a:r>
            <a:endParaRPr lang="en-US" sz="900" dirty="0"/>
          </a:p>
        </p:txBody>
      </p:sp>
      <p:sp>
        <p:nvSpPr>
          <p:cNvPr id="41" name="Shape 30"/>
          <p:cNvSpPr/>
          <p:nvPr/>
        </p:nvSpPr>
        <p:spPr>
          <a:xfrm>
            <a:off x="7205472" y="2834640"/>
            <a:ext cx="1517904" cy="42062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42" name="Text 31"/>
          <p:cNvSpPr/>
          <p:nvPr/>
        </p:nvSpPr>
        <p:spPr>
          <a:xfrm>
            <a:off x="7242048" y="2880360"/>
            <a:ext cx="14447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Selenium 자동 크롤링</a:t>
            </a:r>
            <a:endParaRPr lang="en-US" sz="900" dirty="0"/>
          </a:p>
        </p:txBody>
      </p:sp>
      <p:sp>
        <p:nvSpPr>
          <p:cNvPr id="43" name="Shape 32"/>
          <p:cNvSpPr/>
          <p:nvPr/>
        </p:nvSpPr>
        <p:spPr>
          <a:xfrm>
            <a:off x="4736592" y="3255264"/>
            <a:ext cx="1115568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44" name="Text 33"/>
          <p:cNvSpPr/>
          <p:nvPr/>
        </p:nvSpPr>
        <p:spPr>
          <a:xfrm>
            <a:off x="4773168" y="3300984"/>
            <a:ext cx="104241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이미지</a:t>
            </a:r>
            <a:endParaRPr lang="en-US" sz="950" dirty="0"/>
          </a:p>
        </p:txBody>
      </p:sp>
      <p:sp>
        <p:nvSpPr>
          <p:cNvPr id="45" name="Shape 34"/>
          <p:cNvSpPr/>
          <p:nvPr/>
        </p:nvSpPr>
        <p:spPr>
          <a:xfrm>
            <a:off x="5925312" y="3255264"/>
            <a:ext cx="1243584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46" name="Text 35"/>
          <p:cNvSpPr/>
          <p:nvPr/>
        </p:nvSpPr>
        <p:spPr>
          <a:xfrm>
            <a:off x="5961888" y="3300984"/>
            <a:ext cx="117043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28×28 흑백</a:t>
            </a:r>
            <a:endParaRPr lang="en-US" sz="900" dirty="0"/>
          </a:p>
        </p:txBody>
      </p:sp>
      <p:sp>
        <p:nvSpPr>
          <p:cNvPr id="47" name="Shape 36"/>
          <p:cNvSpPr/>
          <p:nvPr/>
        </p:nvSpPr>
        <p:spPr>
          <a:xfrm>
            <a:off x="7205472" y="3255264"/>
            <a:ext cx="1517904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48" name="Text 37"/>
          <p:cNvSpPr/>
          <p:nvPr/>
        </p:nvSpPr>
        <p:spPr>
          <a:xfrm>
            <a:off x="7242048" y="3300984"/>
            <a:ext cx="14447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64×64 컬러(RGB)</a:t>
            </a:r>
            <a:endParaRPr lang="en-US" sz="900" dirty="0"/>
          </a:p>
        </p:txBody>
      </p:sp>
      <p:sp>
        <p:nvSpPr>
          <p:cNvPr id="49" name="Shape 38"/>
          <p:cNvSpPr/>
          <p:nvPr/>
        </p:nvSpPr>
        <p:spPr>
          <a:xfrm>
            <a:off x="4736592" y="3675888"/>
            <a:ext cx="1115568" cy="42062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50" name="Text 39"/>
          <p:cNvSpPr/>
          <p:nvPr/>
        </p:nvSpPr>
        <p:spPr>
          <a:xfrm>
            <a:off x="4773168" y="3721608"/>
            <a:ext cx="104241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입력채널</a:t>
            </a:r>
            <a:endParaRPr lang="en-US" sz="950" dirty="0"/>
          </a:p>
        </p:txBody>
      </p:sp>
      <p:sp>
        <p:nvSpPr>
          <p:cNvPr id="51" name="Shape 40"/>
          <p:cNvSpPr/>
          <p:nvPr/>
        </p:nvSpPr>
        <p:spPr>
          <a:xfrm>
            <a:off x="5925312" y="3675888"/>
            <a:ext cx="1243584" cy="42062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52" name="Text 41"/>
          <p:cNvSpPr/>
          <p:nvPr/>
        </p:nvSpPr>
        <p:spPr>
          <a:xfrm>
            <a:off x="5961888" y="3721608"/>
            <a:ext cx="117043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1채널</a:t>
            </a:r>
            <a:endParaRPr lang="en-US" sz="900" dirty="0"/>
          </a:p>
        </p:txBody>
      </p:sp>
      <p:sp>
        <p:nvSpPr>
          <p:cNvPr id="53" name="Shape 42"/>
          <p:cNvSpPr/>
          <p:nvPr/>
        </p:nvSpPr>
        <p:spPr>
          <a:xfrm>
            <a:off x="7205472" y="3675888"/>
            <a:ext cx="1517904" cy="42062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54" name="Text 43"/>
          <p:cNvSpPr/>
          <p:nvPr/>
        </p:nvSpPr>
        <p:spPr>
          <a:xfrm>
            <a:off x="7242048" y="3721608"/>
            <a:ext cx="14447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3채널 (R·G·B)</a:t>
            </a:r>
            <a:endParaRPr lang="en-US" sz="900" dirty="0"/>
          </a:p>
        </p:txBody>
      </p:sp>
      <p:sp>
        <p:nvSpPr>
          <p:cNvPr id="55" name="Shape 44"/>
          <p:cNvSpPr/>
          <p:nvPr/>
        </p:nvSpPr>
        <p:spPr>
          <a:xfrm>
            <a:off x="4736592" y="4096512"/>
            <a:ext cx="1115568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56" name="Text 45"/>
          <p:cNvSpPr/>
          <p:nvPr/>
        </p:nvSpPr>
        <p:spPr>
          <a:xfrm>
            <a:off x="4773168" y="4142232"/>
            <a:ext cx="104241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증강</a:t>
            </a:r>
            <a:endParaRPr lang="en-US" sz="950" dirty="0"/>
          </a:p>
        </p:txBody>
      </p:sp>
      <p:sp>
        <p:nvSpPr>
          <p:cNvPr id="57" name="Shape 46"/>
          <p:cNvSpPr/>
          <p:nvPr/>
        </p:nvSpPr>
        <p:spPr>
          <a:xfrm>
            <a:off x="5925312" y="4096512"/>
            <a:ext cx="1243584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58" name="Text 47"/>
          <p:cNvSpPr/>
          <p:nvPr/>
        </p:nvSpPr>
        <p:spPr>
          <a:xfrm>
            <a:off x="5961888" y="4142232"/>
            <a:ext cx="117043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없음</a:t>
            </a:r>
            <a:endParaRPr lang="en-US" sz="900" dirty="0"/>
          </a:p>
        </p:txBody>
      </p:sp>
      <p:sp>
        <p:nvSpPr>
          <p:cNvPr id="59" name="Shape 48"/>
          <p:cNvSpPr/>
          <p:nvPr/>
        </p:nvSpPr>
        <p:spPr>
          <a:xfrm>
            <a:off x="7205472" y="4096512"/>
            <a:ext cx="1517904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60" name="Text 49"/>
          <p:cNvSpPr/>
          <p:nvPr/>
        </p:nvSpPr>
        <p:spPr>
          <a:xfrm>
            <a:off x="7242048" y="4142232"/>
            <a:ext cx="14447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회전·반전·색감</a:t>
            </a:r>
            <a:endParaRPr lang="en-US" sz="900" dirty="0"/>
          </a:p>
        </p:txBody>
      </p:sp>
      <p:sp>
        <p:nvSpPr>
          <p:cNvPr id="61" name="Shape 50"/>
          <p:cNvSpPr/>
          <p:nvPr/>
        </p:nvSpPr>
        <p:spPr>
          <a:xfrm>
            <a:off x="4736592" y="4517136"/>
            <a:ext cx="1115568" cy="42062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62" name="Text 51"/>
          <p:cNvSpPr/>
          <p:nvPr/>
        </p:nvSpPr>
        <p:spPr>
          <a:xfrm>
            <a:off x="4773168" y="4562856"/>
            <a:ext cx="104241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독창성</a:t>
            </a:r>
            <a:endParaRPr lang="en-US" sz="950" dirty="0"/>
          </a:p>
        </p:txBody>
      </p:sp>
      <p:sp>
        <p:nvSpPr>
          <p:cNvPr id="63" name="Shape 52"/>
          <p:cNvSpPr/>
          <p:nvPr/>
        </p:nvSpPr>
        <p:spPr>
          <a:xfrm>
            <a:off x="5925312" y="4517136"/>
            <a:ext cx="1243584" cy="42062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64" name="Text 53"/>
          <p:cNvSpPr/>
          <p:nvPr/>
        </p:nvSpPr>
        <p:spPr>
          <a:xfrm>
            <a:off x="5961888" y="4562856"/>
            <a:ext cx="117043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낮음</a:t>
            </a:r>
            <a:endParaRPr lang="en-US" sz="900" dirty="0"/>
          </a:p>
        </p:txBody>
      </p:sp>
      <p:sp>
        <p:nvSpPr>
          <p:cNvPr id="65" name="Shape 54"/>
          <p:cNvSpPr/>
          <p:nvPr/>
        </p:nvSpPr>
        <p:spPr>
          <a:xfrm>
            <a:off x="7205472" y="4517136"/>
            <a:ext cx="1517904" cy="42062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66" name="Text 55"/>
          <p:cNvSpPr/>
          <p:nvPr/>
        </p:nvSpPr>
        <p:spPr>
          <a:xfrm>
            <a:off x="7242048" y="4562856"/>
            <a:ext cx="14447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높음 ★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이미지 자동 수집 — food_crawling.py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20040" y="804672"/>
            <a:ext cx="1591056" cy="12984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20040" y="804672"/>
            <a:ext cx="1591056" cy="292608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841248"/>
            <a:ext cx="15910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클래스 0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320040" y="1133856"/>
            <a:ext cx="1591056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🍲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356616" y="1682496"/>
            <a:ext cx="151790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김치찌개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56616" y="1901952"/>
            <a:ext cx="151790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붉은 국물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1956816" y="804672"/>
            <a:ext cx="1591056" cy="12984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956816" y="804672"/>
            <a:ext cx="1591056" cy="292608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956816" y="841248"/>
            <a:ext cx="15910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클래스 1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1956816" y="1133856"/>
            <a:ext cx="1591056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🥘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993392" y="1682496"/>
            <a:ext cx="151790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된장찌개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993392" y="1901952"/>
            <a:ext cx="151790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갈색 국물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593592" y="804672"/>
            <a:ext cx="1591056" cy="12984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4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593592" y="804672"/>
            <a:ext cx="1591056" cy="292608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93592" y="841248"/>
            <a:ext cx="15910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클래스 2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3593592" y="1133856"/>
            <a:ext cx="1591056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🍱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3630168" y="1682496"/>
            <a:ext cx="151790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비빔밥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30168" y="1901952"/>
            <a:ext cx="151790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다채로운 색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230368" y="804672"/>
            <a:ext cx="1591056" cy="12984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4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230368" y="804672"/>
            <a:ext cx="1591056" cy="292608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30368" y="841248"/>
            <a:ext cx="15910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클래스 3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5230368" y="1133856"/>
            <a:ext cx="1591056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🥩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5266944" y="1682496"/>
            <a:ext cx="151790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삼겹살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266944" y="1901952"/>
            <a:ext cx="151790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구운 고기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867144" y="804672"/>
            <a:ext cx="1591056" cy="12984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4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867144" y="804672"/>
            <a:ext cx="1591056" cy="292608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67144" y="841248"/>
            <a:ext cx="15910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클래스 4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867144" y="1133856"/>
            <a:ext cx="1591056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🍜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6903720" y="1682496"/>
            <a:ext cx="151790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라면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903720" y="1901952"/>
            <a:ext cx="151790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노란 면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320040" y="2231136"/>
            <a:ext cx="4846320" cy="268833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4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0040" y="2231136"/>
            <a:ext cx="4846320" cy="3657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9768" y="2276856"/>
            <a:ext cx="256032" cy="256032"/>
          </a:xfrm>
          <a:prstGeom prst="rect">
            <a:avLst/>
          </a:prstGeom>
        </p:spPr>
      </p:pic>
      <p:sp>
        <p:nvSpPr>
          <p:cNvPr id="36" name="Text 33"/>
          <p:cNvSpPr/>
          <p:nvPr/>
        </p:nvSpPr>
        <p:spPr>
          <a:xfrm>
            <a:off x="777240" y="2276856"/>
            <a:ext cx="4251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크롤링 핵심 코드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457200" y="2688336"/>
            <a:ext cx="4553712" cy="21579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저장 경로: 이 파일 위치 기준으로 자동 설정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BASE_DIR = os.path.join(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os.path.dirname(os.path.abspath(__file__)),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"food_dataset"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한글+영어 이중 검색으로 URL 최대 확보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korean_urls = get_bing_image_urls(driver, '김치찌개', 300)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english_urls= get_bing_image_urls(driver, 'Kimchi jjigae', 300)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Train 50장 / Test 10장 자동 분류 저장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train_dir = os.path.join(BASE_DIR,'train',korean_name)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test_dir  = os.path.join(BASE_DIR,'test', korean_name)</a:t>
            </a:r>
            <a:endParaRPr lang="en-US" sz="850" dirty="0"/>
          </a:p>
        </p:txBody>
      </p:sp>
      <p:sp>
        <p:nvSpPr>
          <p:cNvPr id="38" name="Shape 35"/>
          <p:cNvSpPr/>
          <p:nvPr/>
        </p:nvSpPr>
        <p:spPr>
          <a:xfrm>
            <a:off x="5440680" y="2231136"/>
            <a:ext cx="3383280" cy="268833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4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5440680" y="2231136"/>
            <a:ext cx="3383280" cy="3657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4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0408" y="2276856"/>
            <a:ext cx="256032" cy="256032"/>
          </a:xfrm>
          <a:prstGeom prst="rect">
            <a:avLst/>
          </a:prstGeom>
        </p:spPr>
      </p:pic>
      <p:sp>
        <p:nvSpPr>
          <p:cNvPr id="41" name="Text 37"/>
          <p:cNvSpPr/>
          <p:nvPr/>
        </p:nvSpPr>
        <p:spPr>
          <a:xfrm>
            <a:off x="5897880" y="2276856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수집 설정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>
            <a:off x="5504688" y="2688336"/>
            <a:ext cx="3246120" cy="347472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5559552" y="2743200"/>
            <a:ext cx="1463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클래스당 Train</a:t>
            </a:r>
            <a:endParaRPr lang="en-US" sz="1000" dirty="0"/>
          </a:p>
        </p:txBody>
      </p:sp>
      <p:sp>
        <p:nvSpPr>
          <p:cNvPr id="44" name="Text 40"/>
          <p:cNvSpPr/>
          <p:nvPr/>
        </p:nvSpPr>
        <p:spPr>
          <a:xfrm>
            <a:off x="7059168" y="2743200"/>
            <a:ext cx="16276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50장</a:t>
            </a:r>
            <a:endParaRPr lang="en-US" sz="1000" dirty="0"/>
          </a:p>
        </p:txBody>
      </p:sp>
      <p:sp>
        <p:nvSpPr>
          <p:cNvPr id="45" name="Shape 41"/>
          <p:cNvSpPr/>
          <p:nvPr/>
        </p:nvSpPr>
        <p:spPr>
          <a:xfrm>
            <a:off x="5504688" y="3035808"/>
            <a:ext cx="3246120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46" name="Text 42"/>
          <p:cNvSpPr/>
          <p:nvPr/>
        </p:nvSpPr>
        <p:spPr>
          <a:xfrm>
            <a:off x="5559552" y="3090672"/>
            <a:ext cx="1463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클래스당 Test</a:t>
            </a:r>
            <a:endParaRPr lang="en-US" sz="1000" dirty="0"/>
          </a:p>
        </p:txBody>
      </p:sp>
      <p:sp>
        <p:nvSpPr>
          <p:cNvPr id="47" name="Text 43"/>
          <p:cNvSpPr/>
          <p:nvPr/>
        </p:nvSpPr>
        <p:spPr>
          <a:xfrm>
            <a:off x="7059168" y="3090672"/>
            <a:ext cx="16276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10장</a:t>
            </a:r>
            <a:endParaRPr lang="en-US" sz="1000" dirty="0"/>
          </a:p>
        </p:txBody>
      </p:sp>
      <p:sp>
        <p:nvSpPr>
          <p:cNvPr id="48" name="Shape 44"/>
          <p:cNvSpPr/>
          <p:nvPr/>
        </p:nvSpPr>
        <p:spPr>
          <a:xfrm>
            <a:off x="5504688" y="3383280"/>
            <a:ext cx="3246120" cy="347472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5559552" y="3438144"/>
            <a:ext cx="1463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최소 해상도</a:t>
            </a:r>
            <a:endParaRPr lang="en-US" sz="1000" dirty="0"/>
          </a:p>
        </p:txBody>
      </p:sp>
      <p:sp>
        <p:nvSpPr>
          <p:cNvPr id="50" name="Text 46"/>
          <p:cNvSpPr/>
          <p:nvPr/>
        </p:nvSpPr>
        <p:spPr>
          <a:xfrm>
            <a:off x="7059168" y="3438144"/>
            <a:ext cx="16276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150×150px</a:t>
            </a:r>
            <a:endParaRPr lang="en-US" sz="1000" dirty="0"/>
          </a:p>
        </p:txBody>
      </p:sp>
      <p:sp>
        <p:nvSpPr>
          <p:cNvPr id="51" name="Shape 47"/>
          <p:cNvSpPr/>
          <p:nvPr/>
        </p:nvSpPr>
        <p:spPr>
          <a:xfrm>
            <a:off x="5504688" y="3730752"/>
            <a:ext cx="3246120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52" name="Text 48"/>
          <p:cNvSpPr/>
          <p:nvPr/>
        </p:nvSpPr>
        <p:spPr>
          <a:xfrm>
            <a:off x="5559552" y="3785616"/>
            <a:ext cx="1463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 방식</a:t>
            </a:r>
            <a:endParaRPr lang="en-US" sz="1000" dirty="0"/>
          </a:p>
        </p:txBody>
      </p:sp>
      <p:sp>
        <p:nvSpPr>
          <p:cNvPr id="53" name="Text 49"/>
          <p:cNvSpPr/>
          <p:nvPr/>
        </p:nvSpPr>
        <p:spPr>
          <a:xfrm>
            <a:off x="7059168" y="3785616"/>
            <a:ext cx="16276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한글+영어 이중</a:t>
            </a:r>
            <a:endParaRPr lang="en-US" sz="1000" dirty="0"/>
          </a:p>
        </p:txBody>
      </p:sp>
      <p:sp>
        <p:nvSpPr>
          <p:cNvPr id="54" name="Shape 50"/>
          <p:cNvSpPr/>
          <p:nvPr/>
        </p:nvSpPr>
        <p:spPr>
          <a:xfrm>
            <a:off x="5504688" y="4078224"/>
            <a:ext cx="3246120" cy="347472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55" name="Text 51"/>
          <p:cNvSpPr/>
          <p:nvPr/>
        </p:nvSpPr>
        <p:spPr>
          <a:xfrm>
            <a:off x="5559552" y="4133088"/>
            <a:ext cx="1463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저장 형식</a:t>
            </a:r>
            <a:endParaRPr lang="en-US" sz="1000" dirty="0"/>
          </a:p>
        </p:txBody>
      </p:sp>
      <p:sp>
        <p:nvSpPr>
          <p:cNvPr id="56" name="Text 52"/>
          <p:cNvSpPr/>
          <p:nvPr/>
        </p:nvSpPr>
        <p:spPr>
          <a:xfrm>
            <a:off x="7059168" y="4133088"/>
            <a:ext cx="16276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jpg/png/webp</a:t>
            </a:r>
            <a:endParaRPr lang="en-US" sz="1000" dirty="0"/>
          </a:p>
        </p:txBody>
      </p:sp>
      <p:sp>
        <p:nvSpPr>
          <p:cNvPr id="57" name="Shape 53"/>
          <p:cNvSpPr/>
          <p:nvPr/>
        </p:nvSpPr>
        <p:spPr>
          <a:xfrm>
            <a:off x="5504688" y="4425696"/>
            <a:ext cx="3246120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58" name="Text 54"/>
          <p:cNvSpPr/>
          <p:nvPr/>
        </p:nvSpPr>
        <p:spPr>
          <a:xfrm>
            <a:off x="5559552" y="4480560"/>
            <a:ext cx="1463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총 수집 목표</a:t>
            </a:r>
            <a:endParaRPr lang="en-US" sz="1000" dirty="0"/>
          </a:p>
        </p:txBody>
      </p:sp>
      <p:sp>
        <p:nvSpPr>
          <p:cNvPr id="59" name="Text 55"/>
          <p:cNvSpPr/>
          <p:nvPr/>
        </p:nvSpPr>
        <p:spPr>
          <a:xfrm>
            <a:off x="7059168" y="4480560"/>
            <a:ext cx="16276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약 300장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CNN 모델 설계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66751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참고: keon/3-min-pytorch Chapter 5  —  RGB 3채널 + Dropout(0.6) + 경로 자동화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1005840"/>
            <a:ext cx="1234440" cy="1298448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4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56616" y="1060704"/>
            <a:ext cx="116128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64×64×3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(RGB)</a:t>
            </a:r>
            <a:endParaRPr lang="en-US" sz="95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9344" y="1508760"/>
            <a:ext cx="118872" cy="25603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792224" y="1005840"/>
            <a:ext cx="1234440" cy="1298448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4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1828800" y="1060704"/>
            <a:ext cx="116128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Conv2d(3→16)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k=5, ReLU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MaxPool→30×30</a:t>
            </a:r>
            <a:endParaRPr lang="en-US" sz="95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528" y="1508760"/>
            <a:ext cx="118872" cy="25603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264408" y="1005840"/>
            <a:ext cx="1234440" cy="1298448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4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3300984" y="1060704"/>
            <a:ext cx="116128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Conv2d(16→32)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Dropout2d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ReLU·MaxPool→5×5</a:t>
            </a:r>
            <a:endParaRPr lang="en-US" sz="95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3712" y="1508760"/>
            <a:ext cx="118872" cy="25603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736592" y="1005840"/>
            <a:ext cx="1234440" cy="12984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4000"/>
              </a:srgbClr>
            </a:outerShdw>
          </a:effectLst>
        </p:spPr>
      </p:sp>
      <p:sp>
        <p:nvSpPr>
          <p:cNvPr id="14" name="Text 9"/>
          <p:cNvSpPr/>
          <p:nvPr/>
        </p:nvSpPr>
        <p:spPr>
          <a:xfrm>
            <a:off x="4773168" y="1060704"/>
            <a:ext cx="116128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Flatten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</a:t>
            </a:r>
            <a:endParaRPr lang="en-US" sz="95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5896" y="1508760"/>
            <a:ext cx="118872" cy="256032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208776" y="1005840"/>
            <a:ext cx="1234440" cy="12984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4000"/>
              </a:srgbClr>
            </a:outerShdw>
          </a:effectLst>
        </p:spPr>
      </p:sp>
      <p:sp>
        <p:nvSpPr>
          <p:cNvPr id="17" name="Text 11"/>
          <p:cNvSpPr/>
          <p:nvPr/>
        </p:nvSpPr>
        <p:spPr>
          <a:xfrm>
            <a:off x="6245352" y="1060704"/>
            <a:ext cx="116128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FC(800→128)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ReLU·Drop(0.6)</a:t>
            </a:r>
            <a:endParaRPr lang="en-US" sz="95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080" y="1508760"/>
            <a:ext cx="118872" cy="256032"/>
          </a:xfrm>
          <a:prstGeom prst="rect">
            <a:avLst/>
          </a:prstGeom>
        </p:spPr>
      </p:pic>
      <p:sp>
        <p:nvSpPr>
          <p:cNvPr id="19" name="Shape 12"/>
          <p:cNvSpPr/>
          <p:nvPr/>
        </p:nvSpPr>
        <p:spPr>
          <a:xfrm>
            <a:off x="7680960" y="1005840"/>
            <a:ext cx="1234440" cy="1298448"/>
          </a:xfrm>
          <a:prstGeom prst="rect">
            <a:avLst/>
          </a:prstGeom>
          <a:solidFill>
            <a:srgbClr val="0D7C3C"/>
          </a:solidFill>
          <a:ln w="12700">
            <a:solidFill>
              <a:srgbClr val="0D7C3C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4000"/>
              </a:srgbClr>
            </a:outerShdw>
          </a:effectLst>
        </p:spPr>
      </p:sp>
      <p:sp>
        <p:nvSpPr>
          <p:cNvPr id="20" name="Text 13"/>
          <p:cNvSpPr/>
          <p:nvPr/>
        </p:nvSpPr>
        <p:spPr>
          <a:xfrm>
            <a:off x="7717536" y="1060704"/>
            <a:ext cx="116128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FC(128→5)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950" dirty="0"/>
          </a:p>
        </p:txBody>
      </p:sp>
      <p:sp>
        <p:nvSpPr>
          <p:cNvPr id="21" name="Shape 14"/>
          <p:cNvSpPr/>
          <p:nvPr/>
        </p:nvSpPr>
        <p:spPr>
          <a:xfrm>
            <a:off x="320040" y="2505456"/>
            <a:ext cx="4937760" cy="1097280"/>
          </a:xfrm>
          <a:prstGeom prst="rect">
            <a:avLst/>
          </a:prstGeom>
          <a:solidFill>
            <a:srgbClr val="F0FDF4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4000"/>
              </a:srgbClr>
            </a:outerShdw>
          </a:effectLst>
        </p:spPr>
      </p:sp>
      <p:sp>
        <p:nvSpPr>
          <p:cNvPr id="22" name="Shape 15"/>
          <p:cNvSpPr/>
          <p:nvPr/>
        </p:nvSpPr>
        <p:spPr>
          <a:xfrm>
            <a:off x="320040" y="2505456"/>
            <a:ext cx="4937760" cy="310896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3" name="Text 16"/>
          <p:cNvSpPr/>
          <p:nvPr/>
        </p:nvSpPr>
        <p:spPr>
          <a:xfrm>
            <a:off x="457200" y="2532888"/>
            <a:ext cx="4663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경로 자동화 — 어디서 실행해도 동작</a:t>
            </a:r>
            <a:endParaRPr lang="en-US" sz="1100" dirty="0"/>
          </a:p>
        </p:txBody>
      </p:sp>
      <p:sp>
        <p:nvSpPr>
          <p:cNvPr id="24" name="Text 17"/>
          <p:cNvSpPr/>
          <p:nvPr/>
        </p:nvSpPr>
        <p:spPr>
          <a:xfrm>
            <a:off x="457200" y="2871216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665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_BASE     = os.path.dirname(os.path.abspath(__file__))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665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TRAIN_DIR = os.path.join(_BASE, "food_dataset", "train")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665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TEST_DIR  = os.path.join(_BASE, "food_dataset", "test")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665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SAVE_DIR  = _BASE   # 그래프도 같은 폴더에 저장</a:t>
            </a:r>
            <a:endParaRPr lang="en-US" sz="900" dirty="0"/>
          </a:p>
        </p:txBody>
      </p:sp>
      <p:sp>
        <p:nvSpPr>
          <p:cNvPr id="25" name="Text 18"/>
          <p:cNvSpPr/>
          <p:nvPr/>
        </p:nvSpPr>
        <p:spPr>
          <a:xfrm>
            <a:off x="5486400" y="248716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하이퍼파라미터</a:t>
            </a:r>
            <a:endParaRPr lang="en-US" sz="1300" dirty="0"/>
          </a:p>
        </p:txBody>
      </p:sp>
      <p:sp>
        <p:nvSpPr>
          <p:cNvPr id="26" name="Shape 19"/>
          <p:cNvSpPr/>
          <p:nvPr/>
        </p:nvSpPr>
        <p:spPr>
          <a:xfrm>
            <a:off x="5504688" y="2834640"/>
            <a:ext cx="3273552" cy="38404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27" name="Text 20"/>
          <p:cNvSpPr/>
          <p:nvPr/>
        </p:nvSpPr>
        <p:spPr>
          <a:xfrm>
            <a:off x="5559552" y="2907792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손실 함수</a:t>
            </a:r>
            <a:endParaRPr lang="en-US" sz="1000" dirty="0"/>
          </a:p>
        </p:txBody>
      </p:sp>
      <p:sp>
        <p:nvSpPr>
          <p:cNvPr id="28" name="Text 21"/>
          <p:cNvSpPr/>
          <p:nvPr/>
        </p:nvSpPr>
        <p:spPr>
          <a:xfrm>
            <a:off x="6894576" y="290779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CrossEntropyLoss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5504688" y="3218688"/>
            <a:ext cx="3273552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30" name="Text 23"/>
          <p:cNvSpPr/>
          <p:nvPr/>
        </p:nvSpPr>
        <p:spPr>
          <a:xfrm>
            <a:off x="5559552" y="3291840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옵티마이저</a:t>
            </a:r>
            <a:endParaRPr lang="en-US" sz="1000" dirty="0"/>
          </a:p>
        </p:txBody>
      </p:sp>
      <p:sp>
        <p:nvSpPr>
          <p:cNvPr id="31" name="Text 24"/>
          <p:cNvSpPr/>
          <p:nvPr/>
        </p:nvSpPr>
        <p:spPr>
          <a:xfrm>
            <a:off x="6894576" y="3291840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SGD  lr=0.01</a:t>
            </a:r>
            <a:endParaRPr lang="en-US" sz="1000" dirty="0"/>
          </a:p>
        </p:txBody>
      </p:sp>
      <p:sp>
        <p:nvSpPr>
          <p:cNvPr id="32" name="Shape 25"/>
          <p:cNvSpPr/>
          <p:nvPr/>
        </p:nvSpPr>
        <p:spPr>
          <a:xfrm>
            <a:off x="5504688" y="3602736"/>
            <a:ext cx="3273552" cy="38404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33" name="Text 26"/>
          <p:cNvSpPr/>
          <p:nvPr/>
        </p:nvSpPr>
        <p:spPr>
          <a:xfrm>
            <a:off x="5559552" y="367588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momentum</a:t>
            </a:r>
            <a:endParaRPr lang="en-US" sz="1000" dirty="0"/>
          </a:p>
        </p:txBody>
      </p:sp>
      <p:sp>
        <p:nvSpPr>
          <p:cNvPr id="34" name="Text 27"/>
          <p:cNvSpPr/>
          <p:nvPr/>
        </p:nvSpPr>
        <p:spPr>
          <a:xfrm>
            <a:off x="6894576" y="3675888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</a:t>
            </a:r>
            <a:endParaRPr lang="en-US" sz="1000" dirty="0"/>
          </a:p>
        </p:txBody>
      </p:sp>
      <p:sp>
        <p:nvSpPr>
          <p:cNvPr id="35" name="Shape 28"/>
          <p:cNvSpPr/>
          <p:nvPr/>
        </p:nvSpPr>
        <p:spPr>
          <a:xfrm>
            <a:off x="5504688" y="3986784"/>
            <a:ext cx="3273552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36" name="Text 29"/>
          <p:cNvSpPr/>
          <p:nvPr/>
        </p:nvSpPr>
        <p:spPr>
          <a:xfrm>
            <a:off x="5559552" y="4059936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</a:t>
            </a:r>
            <a:endParaRPr lang="en-US" sz="1000" dirty="0"/>
          </a:p>
        </p:txBody>
      </p:sp>
      <p:sp>
        <p:nvSpPr>
          <p:cNvPr id="37" name="Text 30"/>
          <p:cNvSpPr/>
          <p:nvPr/>
        </p:nvSpPr>
        <p:spPr>
          <a:xfrm>
            <a:off x="6894576" y="4059936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 (강한 정규화)</a:t>
            </a:r>
            <a:endParaRPr lang="en-US" sz="1000" dirty="0"/>
          </a:p>
        </p:txBody>
      </p:sp>
      <p:sp>
        <p:nvSpPr>
          <p:cNvPr id="38" name="Shape 31"/>
          <p:cNvSpPr/>
          <p:nvPr/>
        </p:nvSpPr>
        <p:spPr>
          <a:xfrm>
            <a:off x="5504688" y="4370832"/>
            <a:ext cx="3273552" cy="38404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5559552" y="4443984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에폭/배치</a:t>
            </a:r>
            <a:endParaRPr lang="en-US" sz="1000" dirty="0"/>
          </a:p>
        </p:txBody>
      </p:sp>
      <p:sp>
        <p:nvSpPr>
          <p:cNvPr id="40" name="Text 33"/>
          <p:cNvSpPr/>
          <p:nvPr/>
        </p:nvSpPr>
        <p:spPr>
          <a:xfrm>
            <a:off x="6894576" y="4443984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16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학습 전 / 후 인식률 비교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822960"/>
            <a:ext cx="3886200" cy="3657600"/>
          </a:xfrm>
          <a:prstGeom prst="rect">
            <a:avLst/>
          </a:prstGeom>
          <a:solidFill>
            <a:srgbClr val="253458"/>
          </a:solidFill>
          <a:ln w="19050">
            <a:solidFill>
              <a:srgbClr val="F8717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6012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전  (Before)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325880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랜덤 초기화 가중치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664208"/>
            <a:ext cx="3886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~20%</a:t>
            </a:r>
            <a:endParaRPr lang="en-US" sz="7200" dirty="0"/>
          </a:p>
        </p:txBody>
      </p:sp>
      <p:sp>
        <p:nvSpPr>
          <p:cNvPr id="7" name="Text 5"/>
          <p:cNvSpPr/>
          <p:nvPr/>
        </p:nvSpPr>
        <p:spPr>
          <a:xfrm>
            <a:off x="365760" y="2926080"/>
            <a:ext cx="3886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331012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5개 클래스 → 무작위 예측 수준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315968" y="2011680"/>
            <a:ext cx="5120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206240" y="2542032"/>
            <a:ext cx="7315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Epochs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SGD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892040" y="822960"/>
            <a:ext cx="3886200" cy="3657600"/>
          </a:xfrm>
          <a:prstGeom prst="rect">
            <a:avLst/>
          </a:prstGeom>
          <a:solidFill>
            <a:srgbClr val="253458"/>
          </a:solidFill>
          <a:ln w="19050">
            <a:solidFill>
              <a:srgbClr val="34D39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74920" y="96012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후  (After)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074920" y="1325880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SGD · 5 Epochs · Selenium 수집 데이터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892040" y="1664208"/>
            <a:ext cx="3886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75~85%</a:t>
            </a:r>
            <a:endParaRPr lang="en-US" sz="6400" dirty="0"/>
          </a:p>
        </p:txBody>
      </p:sp>
      <p:sp>
        <p:nvSpPr>
          <p:cNvPr id="15" name="Text 13"/>
          <p:cNvSpPr/>
          <p:nvPr/>
        </p:nvSpPr>
        <p:spPr>
          <a:xfrm>
            <a:off x="4892040" y="2926080"/>
            <a:ext cx="3886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074920" y="331012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≈ Test → 과적합 없음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4617720"/>
            <a:ext cx="8412480" cy="329184"/>
          </a:xfrm>
          <a:prstGeom prst="rect">
            <a:avLst/>
          </a:prstGeom>
          <a:solidFill>
            <a:srgbClr val="FB923C">
              <a:alpha val="80000"/>
            </a:srgbClr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4654296"/>
            <a:ext cx="8138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 약 55~65%p 향상 — Selenium으로 수집한 실제 데이터로 CNN 학습 효과 정량 입증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학습 결과 — Loss &amp; Accuracy 곡선</a:t>
            </a:r>
            <a:endParaRPr lang="en-US" sz="2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804672"/>
          <a:ext cx="402336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1" descr=""/>
          <p:cNvGraphicFramePr/>
          <p:nvPr/>
        </p:nvGraphicFramePr>
        <p:xfrm>
          <a:off x="4663440" y="804672"/>
          <a:ext cx="402336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Shape 1"/>
          <p:cNvSpPr/>
          <p:nvPr/>
        </p:nvSpPr>
        <p:spPr>
          <a:xfrm>
            <a:off x="365760" y="4160520"/>
            <a:ext cx="841248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4000"/>
              </a:srgbClr>
            </a:outerShdw>
          </a:effectLst>
        </p:spPr>
      </p:sp>
      <p:sp>
        <p:nvSpPr>
          <p:cNvPr id="6" name="Text 2"/>
          <p:cNvSpPr/>
          <p:nvPr/>
        </p:nvSpPr>
        <p:spPr>
          <a:xfrm>
            <a:off x="548640" y="4233672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주요 관찰: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1691640" y="4224528"/>
            <a:ext cx="69494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Loss ≈ Test Loss — 과적합 없이 안정적 수렴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증강 효과로 초반 Test Acc &gt; Train Acc (증강된 학습 이미지가 더 어려운 버전)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에폭에서 Test 80% 수준 달성 — Selenium 수집 데이터 기준 양호한 성능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학습 결과 — 혼동 행렬 (Confusion Matrix)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3152" y="822960"/>
            <a:ext cx="1234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김치찌개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" y="1481328"/>
            <a:ext cx="1234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된장찌개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" y="2139696"/>
            <a:ext cx="1234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비빔밥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" y="2798064"/>
            <a:ext cx="1234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삼겹살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" y="3456432"/>
            <a:ext cx="1234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라면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 rot="1800000">
            <a:off x="1371600" y="41605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김치찌개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 rot="1800000">
            <a:off x="2468880" y="41605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된장찌개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 rot="1800000">
            <a:off x="3566160" y="41605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비빔밥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 rot="1800000">
            <a:off x="4663440" y="41605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삼겹살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 rot="1800000">
            <a:off x="5760720" y="41605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라면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371600" y="822960"/>
            <a:ext cx="1097280" cy="658368"/>
          </a:xfrm>
          <a:prstGeom prst="rect">
            <a:avLst/>
          </a:prstGeom>
          <a:solidFill>
            <a:srgbClr val="0D6E58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71600" y="822960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2468880" y="822960"/>
            <a:ext cx="1097280" cy="6583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468880" y="822960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566160" y="822960"/>
            <a:ext cx="1097280" cy="6583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566160" y="822960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663440" y="822960"/>
            <a:ext cx="1097280" cy="6583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63440" y="822960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760720" y="822960"/>
            <a:ext cx="1097280" cy="6583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760720" y="822960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1371600" y="1481328"/>
            <a:ext cx="1097280" cy="658368"/>
          </a:xfrm>
          <a:prstGeom prst="rect">
            <a:avLst/>
          </a:prstGeom>
          <a:solidFill>
            <a:srgbClr val="FECACA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71600" y="1481328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2468880" y="1481328"/>
            <a:ext cx="1097280" cy="658368"/>
          </a:xfrm>
          <a:prstGeom prst="rect">
            <a:avLst/>
          </a:prstGeom>
          <a:solidFill>
            <a:srgbClr val="0D9488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468880" y="1481328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566160" y="1481328"/>
            <a:ext cx="1097280" cy="6583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566160" y="1481328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4663440" y="1481328"/>
            <a:ext cx="1097280" cy="6583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63440" y="1481328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760720" y="1481328"/>
            <a:ext cx="1097280" cy="6583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60720" y="1481328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1371600" y="2139696"/>
            <a:ext cx="1097280" cy="6583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371600" y="2139696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2468880" y="2139696"/>
            <a:ext cx="1097280" cy="6583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468880" y="2139696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566160" y="2139696"/>
            <a:ext cx="1097280" cy="658368"/>
          </a:xfrm>
          <a:prstGeom prst="rect">
            <a:avLst/>
          </a:prstGeom>
          <a:solidFill>
            <a:srgbClr val="0D6E58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66160" y="2139696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4663440" y="2139696"/>
            <a:ext cx="1097280" cy="6583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63440" y="2139696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5760720" y="2139696"/>
            <a:ext cx="1097280" cy="6583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60720" y="2139696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1371600" y="2798064"/>
            <a:ext cx="1097280" cy="6583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371600" y="2798064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2468880" y="2798064"/>
            <a:ext cx="1097280" cy="6583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468880" y="2798064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3566160" y="2798064"/>
            <a:ext cx="1097280" cy="6583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566160" y="2798064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4663440" y="2798064"/>
            <a:ext cx="1097280" cy="658368"/>
          </a:xfrm>
          <a:prstGeom prst="rect">
            <a:avLst/>
          </a:prstGeom>
          <a:solidFill>
            <a:srgbClr val="0D6E58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663440" y="2798064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5760720" y="2798064"/>
            <a:ext cx="1097280" cy="6583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760720" y="2798064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53" name="Shape 51"/>
          <p:cNvSpPr/>
          <p:nvPr/>
        </p:nvSpPr>
        <p:spPr>
          <a:xfrm>
            <a:off x="1371600" y="3456432"/>
            <a:ext cx="1097280" cy="6583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371600" y="3456432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2468880" y="3456432"/>
            <a:ext cx="1097280" cy="6583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468880" y="3456432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57" name="Shape 55"/>
          <p:cNvSpPr/>
          <p:nvPr/>
        </p:nvSpPr>
        <p:spPr>
          <a:xfrm>
            <a:off x="3566160" y="3456432"/>
            <a:ext cx="1097280" cy="6583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566160" y="3456432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4663440" y="3456432"/>
            <a:ext cx="1097280" cy="6583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663440" y="3456432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5760720" y="3456432"/>
            <a:ext cx="1097280" cy="658368"/>
          </a:xfrm>
          <a:prstGeom prst="rect">
            <a:avLst/>
          </a:prstGeom>
          <a:solidFill>
            <a:srgbClr val="0D6E58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760720" y="3456432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</a:t>
            </a:r>
            <a:endParaRPr lang="en-US" sz="1400" dirty="0"/>
          </a:p>
        </p:txBody>
      </p:sp>
      <p:sp>
        <p:nvSpPr>
          <p:cNvPr id="63" name="Text 61"/>
          <p:cNvSpPr/>
          <p:nvPr/>
        </p:nvSpPr>
        <p:spPr>
          <a:xfrm rot="16200000">
            <a:off x="109728" y="1920240"/>
            <a:ext cx="4572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2103120" y="4681728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Predicted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7086600" y="804672"/>
            <a:ext cx="1828800" cy="3749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4000"/>
              </a:srgbClr>
            </a:outerShdw>
          </a:effectLst>
        </p:spPr>
      </p:sp>
      <p:sp>
        <p:nvSpPr>
          <p:cNvPr id="66" name="Shape 64"/>
          <p:cNvSpPr/>
          <p:nvPr/>
        </p:nvSpPr>
        <p:spPr>
          <a:xfrm>
            <a:off x="7086600" y="804672"/>
            <a:ext cx="1828800" cy="347472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150608" y="822960"/>
            <a:ext cx="17007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분석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7150608" y="1261872"/>
            <a:ext cx="1700784" cy="914400"/>
          </a:xfrm>
          <a:prstGeom prst="rect">
            <a:avLst/>
          </a:prstGeom>
          <a:solidFill>
            <a:srgbClr val="FFF7ED"/>
          </a:solidFill>
          <a:ln w="6350">
            <a:solidFill>
              <a:srgbClr val="FED7AA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196328" y="1316736"/>
            <a:ext cx="1609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김치찌개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 된장찌개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7196328" y="1764792"/>
            <a:ext cx="16093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국물 색상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유사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7150608" y="2304288"/>
            <a:ext cx="1700784" cy="914400"/>
          </a:xfrm>
          <a:prstGeom prst="rect">
            <a:avLst/>
          </a:prstGeom>
          <a:solidFill>
            <a:srgbClr val="FFF7ED"/>
          </a:solidFill>
          <a:ln w="6350">
            <a:solidFill>
              <a:srgbClr val="FED7AA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7196328" y="2359152"/>
            <a:ext cx="1609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삼겹살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 라면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7196328" y="2807208"/>
            <a:ext cx="16093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붉은 색감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공통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7150608" y="3346704"/>
            <a:ext cx="1700784" cy="914400"/>
          </a:xfrm>
          <a:prstGeom prst="rect">
            <a:avLst/>
          </a:prstGeom>
          <a:solidFill>
            <a:srgbClr val="ECFDF5"/>
          </a:solidFill>
          <a:ln w="6350">
            <a:solidFill>
              <a:srgbClr val="A7F3D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7196328" y="3401568"/>
            <a:ext cx="1609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비빔밥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7196328" y="3849624"/>
            <a:ext cx="16093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가장 높은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정확도</a:t>
            </a:r>
            <a:endParaRPr lang="en-US" sz="900" dirty="0"/>
          </a:p>
        </p:txBody>
      </p:sp>
      <p:sp>
        <p:nvSpPr>
          <p:cNvPr id="77" name="Shape 75"/>
          <p:cNvSpPr/>
          <p:nvPr/>
        </p:nvSpPr>
        <p:spPr>
          <a:xfrm>
            <a:off x="365760" y="4645152"/>
            <a:ext cx="841248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4000"/>
              </a:srgbClr>
            </a:outerShdw>
          </a:effectLst>
        </p:spPr>
      </p:sp>
      <p:sp>
        <p:nvSpPr>
          <p:cNvPr id="78" name="Text 76"/>
          <p:cNvSpPr/>
          <p:nvPr/>
        </p:nvSpPr>
        <p:spPr>
          <a:xfrm>
            <a:off x="502920" y="468172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김치찌개·된장찌개는 국물 색상이 유사해 오분류 多 — 크롤링 이미지 추가 수집 또는 데이터 증강 강화로 개선 가능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결론 및 기대 효과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868680"/>
            <a:ext cx="2743200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65760" y="868680"/>
            <a:ext cx="2743200" cy="4572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23544"/>
            <a:ext cx="320040" cy="320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41248" y="923544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목표 달성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02920" y="1444752"/>
            <a:ext cx="2487168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전 ~20% → 학습 후 75~85%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크롤링 수집 데이터로 CNN 효과 입증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≈ Test → 과적합 없음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291840" y="868680"/>
            <a:ext cx="2743200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4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291840" y="868680"/>
            <a:ext cx="2743200" cy="45720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923544"/>
            <a:ext cx="320040" cy="3200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767328" y="923544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크롤링 활용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3429000" y="1444752"/>
            <a:ext cx="2487168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Selenium으로 Bing 이미지 자동 수집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한글·영어 이중 검색으로 수집량 극대화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__file__ 기반 경로로 원스텝 실행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217920" y="868680"/>
            <a:ext cx="2743200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4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217920" y="868680"/>
            <a:ext cx="2743200" cy="45720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923544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693408" y="923544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분석 역량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6355080" y="1444752"/>
            <a:ext cx="2487168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혼동 행렬로 오분류 패턴 파악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Shirt 계열 유사도 문제 도출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개선 방향 제시 가능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365760" y="4297680"/>
            <a:ext cx="841248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4000"/>
              </a:srgbClr>
            </a:outerShd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4425696"/>
            <a:ext cx="256032" cy="329184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822960" y="431596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향후 개선:</a:t>
            </a:r>
            <a:endParaRPr lang="en-US" sz="1100" dirty="0"/>
          </a:p>
        </p:txBody>
      </p:sp>
      <p:sp>
        <p:nvSpPr>
          <p:cNvPr id="21" name="Text 15"/>
          <p:cNvSpPr/>
          <p:nvPr/>
        </p:nvSpPr>
        <p:spPr>
          <a:xfrm>
            <a:off x="822960" y="459028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크롤링 이미지 추가 수집  |  Transfer Learning (ResNet)  |  클래스 5→10종  |  실시간 음식 인식 앱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2743200"/>
            <a:ext cx="3200400" cy="3200400"/>
          </a:xfrm>
          <a:prstGeom prst="ellipse">
            <a:avLst/>
          </a:prstGeom>
          <a:solidFill>
            <a:srgbClr val="253458"/>
          </a:solidFill>
          <a:ln w="12700">
            <a:solidFill>
              <a:srgbClr val="25345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감사합니다</a:t>
            </a:r>
            <a:endParaRPr lang="en-US" sz="5200" dirty="0"/>
          </a:p>
        </p:txBody>
      </p:sp>
      <p:sp>
        <p:nvSpPr>
          <p:cNvPr id="4" name="Shape 2"/>
          <p:cNvSpPr/>
          <p:nvPr/>
        </p:nvSpPr>
        <p:spPr>
          <a:xfrm>
            <a:off x="3200400" y="2423160"/>
            <a:ext cx="2743200" cy="36576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5603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CNN을 활용한 한국 음식 자동 분류  (크롤링 버전)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971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강우현  202404178  |  인공지능융합공학부</a:t>
            </a:r>
            <a:endParaRPr lang="en-US" sz="12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60520" y="3657600"/>
            <a:ext cx="822960" cy="8229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475488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참고: keon/3-min-pytorch  ·  Selenium WebDriver  ·  PyTorch ImageFolder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음식분류 CNN 발표 v2 (크롤링)</dc:title>
  <dc:subject>PptxGenJS Presentation</dc:subject>
  <dc:creator>강우현 202404178</dc:creator>
  <cp:lastModifiedBy>강우현 202404178</cp:lastModifiedBy>
  <cp:revision>1</cp:revision>
  <dcterms:created xsi:type="dcterms:W3CDTF">2026-06-07T03:53:28Z</dcterms:created>
  <dcterms:modified xsi:type="dcterms:W3CDTF">2026-06-07T03:53:28Z</dcterms:modified>
</cp:coreProperties>
</file>