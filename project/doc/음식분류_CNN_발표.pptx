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15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ko-KR" altLang="en-US" sz="1300" b="0" i="0" u="none" strike="noStrike">
                <a:solidFill>
                  <a:srgbClr val="1B2A4A"/>
                </a:solidFill>
                <a:latin typeface="Arial"/>
              </a:rPr>
              <a:t>에폭별 손실</a:t>
            </a:r>
            <a:r>
              <a:rPr lang="en-US" altLang="ko-KR" sz="1300" b="0" i="0" u="none" strike="noStrike">
                <a:solidFill>
                  <a:srgbClr val="1B2A4A"/>
                </a:solidFill>
                <a:latin typeface="Arial"/>
              </a:rPr>
              <a:t>(</a:t>
            </a:r>
            <a:r>
              <a:rPr lang="en-US" sz="1300" b="0" i="0" u="none" strike="noStrike">
                <a:solidFill>
                  <a:srgbClr val="1B2A4A"/>
                </a:solidFill>
                <a:latin typeface="Arial"/>
              </a:rPr>
              <a:t>Loss)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학습 손실</c:v>
                </c:pt>
              </c:strCache>
            </c:strRef>
          </c:tx>
          <c:spPr>
            <a:ln w="31750" cap="flat">
              <a:solidFill>
                <a:srgbClr val="F871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87171"/>
              </a:solidFill>
              <a:ln w="9525" cap="flat">
                <a:solidFill>
                  <a:srgbClr val="F8717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1.52</c:v>
                </c:pt>
                <c:pt idx="1">
                  <c:v>1.28</c:v>
                </c:pt>
                <c:pt idx="2">
                  <c:v>1.1000000000000001</c:v>
                </c:pt>
                <c:pt idx="3">
                  <c:v>0.96</c:v>
                </c:pt>
                <c:pt idx="4">
                  <c:v>0.85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092-4E5D-835F-3CAA2B3090D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테스트 손실</c:v>
                </c:pt>
              </c:strCache>
            </c:strRef>
          </c:tx>
          <c:spPr>
            <a:ln w="31750" cap="flat">
              <a:solidFill>
                <a:srgbClr val="FB92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B923C"/>
              </a:solidFill>
              <a:ln w="9525" cap="flat">
                <a:solidFill>
                  <a:srgbClr val="FB923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1.38</c:v>
                </c:pt>
                <c:pt idx="1">
                  <c:v>1.18</c:v>
                </c:pt>
                <c:pt idx="2">
                  <c:v>1.02</c:v>
                </c:pt>
                <c:pt idx="3">
                  <c:v>0.92</c:v>
                </c:pt>
                <c:pt idx="4">
                  <c:v>0.84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5092-4E5D-835F-3CAA2B3090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4A"/>
                </a:solidFill>
                <a:latin typeface="Arial"/>
              </a:defRPr>
            </a:pPr>
            <a:r>
              <a:rPr lang="ko-KR" altLang="en-US" sz="1300" b="0" i="0" u="none" strike="noStrike">
                <a:solidFill>
                  <a:srgbClr val="1B2A4A"/>
                </a:solidFill>
                <a:latin typeface="Arial"/>
              </a:rPr>
              <a:t>에폭별 정확도</a:t>
            </a:r>
            <a:r>
              <a:rPr lang="en-US" altLang="ko-KR" sz="1300" b="0" i="0" u="none" strike="noStrike">
                <a:solidFill>
                  <a:srgbClr val="1B2A4A"/>
                </a:solidFill>
                <a:latin typeface="Arial"/>
              </a:rPr>
              <a:t>(%)</a:t>
            </a:r>
          </a:p>
        </c:rich>
      </c:tx>
      <c:layout/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학습 정확도 (%)</c:v>
                </c:pt>
              </c:strCache>
            </c:strRef>
          </c:tx>
          <c:spPr>
            <a:ln w="31750" cap="flat">
              <a:solidFill>
                <a:srgbClr val="F8717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87171"/>
              </a:solidFill>
              <a:ln w="9525" cap="flat">
                <a:solidFill>
                  <a:srgbClr val="F87171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</c:v>
                </c:pt>
                <c:pt idx="1">
                  <c:v>55</c:v>
                </c:pt>
                <c:pt idx="2">
                  <c:v>64</c:v>
                </c:pt>
                <c:pt idx="3">
                  <c:v>71</c:v>
                </c:pt>
                <c:pt idx="4">
                  <c:v>76.5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CE9-4F99-B412-8209554D147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테스트 정확도 (%)</c:v>
                </c:pt>
              </c:strCache>
            </c:strRef>
          </c:tx>
          <c:spPr>
            <a:ln w="31750" cap="flat">
              <a:solidFill>
                <a:srgbClr val="FB92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B923C"/>
              </a:solidFill>
              <a:ln w="9525" cap="flat">
                <a:solidFill>
                  <a:srgbClr val="FB923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48</c:v>
                </c:pt>
                <c:pt idx="1">
                  <c:v>60</c:v>
                </c:pt>
                <c:pt idx="2">
                  <c:v>67</c:v>
                </c:pt>
                <c:pt idx="3">
                  <c:v>74</c:v>
                </c:pt>
                <c:pt idx="4">
                  <c:v>80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CE9-4F99-B412-8209554D14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000"/>
          </a:pPr>
          <a:endParaRPr lang="ko-KR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635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097280"/>
            <a:ext cx="4754880" cy="4754880"/>
          </a:xfrm>
          <a:prstGeom prst="ellipse">
            <a:avLst/>
          </a:prstGeom>
          <a:solidFill>
            <a:srgbClr val="253458"/>
          </a:solidFill>
          <a:ln w="12700">
            <a:solidFill>
              <a:srgbClr val="25345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365760"/>
            <a:ext cx="3474720" cy="3474720"/>
          </a:xfrm>
          <a:prstGeom prst="ellipse">
            <a:avLst/>
          </a:prstGeom>
          <a:solidFill>
            <a:srgbClr val="FB923C">
              <a:alpha val="18000"/>
            </a:srgbClr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43891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인공지능개론  |  기말 프로젝트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11480" y="1115568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합성곱 신경망(CNN)을 활용한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411480" y="1645920"/>
            <a:ext cx="7315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한국 음식 자동 분류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411480" y="257860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11480" y="2578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크롤링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847088" y="257860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847088" y="2578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CNN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82696" y="257860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282696" y="2578608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전/후 비교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11480" y="301752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빙(Bing) 이미지 자동 수집 → CNN 학습 → 5종 한국 음식 분류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422452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강우현  202404178  |  인공지능융합공학부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발표 순서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690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960120"/>
            <a:ext cx="548640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6245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24128" y="1097280"/>
            <a:ext cx="3319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개요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24128" y="1527048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목적 · Fashion MNIST와 차이점 · 전체 흐름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960120"/>
            <a:ext cx="40690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60120"/>
            <a:ext cx="548640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362456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21808" y="1097280"/>
            <a:ext cx="3319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이미지 자동 수집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21808" y="1527048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 크롤링 · Bing 검색 · 폴더 자동 생성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313432"/>
            <a:ext cx="40690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313432"/>
            <a:ext cx="548640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715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24128" y="2450592"/>
            <a:ext cx="3319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모델 설계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24128" y="2880360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아키텍처 · 하이퍼파라미터 · 경로 자동화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13432"/>
            <a:ext cx="40690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313432"/>
            <a:ext cx="548640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1576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321808" y="2450592"/>
            <a:ext cx="3319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전/후 비교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321808" y="2880360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가중치 vs 학습 완료 인식률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666744"/>
            <a:ext cx="40690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666744"/>
            <a:ext cx="548640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69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24128" y="3803904"/>
            <a:ext cx="3319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결과 분석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24128" y="4233672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Loss/Accuracy 곡선 · 혼동 행렬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3666744"/>
            <a:ext cx="406908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666744"/>
            <a:ext cx="548640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4069080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321808" y="3803904"/>
            <a:ext cx="33192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 및 기대 효과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321808" y="4233672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성능 해석 · 크롤링 활용 의의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프로젝트 개요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1737360" cy="100584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914400"/>
            <a:ext cx="347472" cy="34747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9144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크롤링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93192" y="140817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food_crawling.py</a:t>
            </a:r>
            <a:endParaRPr lang="en-US" sz="9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1992" y="1188720"/>
            <a:ext cx="182880" cy="292608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60320" y="841248"/>
            <a:ext cx="1737360" cy="1005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33472" y="914400"/>
            <a:ext cx="347472" cy="34747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017520" y="9144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폴더 자동생성</a:t>
            </a:r>
            <a:endParaRPr lang="en-US" sz="1100" dirty="0"/>
          </a:p>
        </p:txBody>
      </p:sp>
      <p:sp>
        <p:nvSpPr>
          <p:cNvPr id="11" name="Text 6"/>
          <p:cNvSpPr/>
          <p:nvPr/>
        </p:nvSpPr>
        <p:spPr>
          <a:xfrm>
            <a:off x="2633472" y="140817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food_dataset/</a:t>
            </a:r>
            <a:endParaRPr lang="en-US" sz="9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2272" y="1188720"/>
            <a:ext cx="182880" cy="292608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4800600" y="841248"/>
            <a:ext cx="1737360" cy="10058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73752" y="914400"/>
            <a:ext cx="347472" cy="3474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257800" y="9144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학습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4873752" y="140817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food_classification</a:t>
            </a:r>
            <a:endParaRPr lang="en-US" sz="9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2552" y="1188720"/>
            <a:ext cx="182880" cy="292608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7040880" y="841248"/>
            <a:ext cx="1737360" cy="100584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14032" y="914400"/>
            <a:ext cx="347472" cy="347472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7498080" y="914400"/>
            <a:ext cx="12070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 분석</a:t>
            </a:r>
            <a:endParaRPr lang="en-US" sz="1100" dirty="0"/>
          </a:p>
        </p:txBody>
      </p:sp>
      <p:sp>
        <p:nvSpPr>
          <p:cNvPr id="21" name="Text 12"/>
          <p:cNvSpPr/>
          <p:nvPr/>
        </p:nvSpPr>
        <p:spPr>
          <a:xfrm>
            <a:off x="7114032" y="1408176"/>
            <a:ext cx="159105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그래프 3종 저장</a:t>
            </a:r>
            <a:endParaRPr lang="en-US" sz="900" dirty="0"/>
          </a:p>
        </p:txBody>
      </p:sp>
      <p:sp>
        <p:nvSpPr>
          <p:cNvPr id="22" name="Shape 13"/>
          <p:cNvSpPr/>
          <p:nvPr/>
        </p:nvSpPr>
        <p:spPr>
          <a:xfrm>
            <a:off x="320040" y="2395728"/>
            <a:ext cx="8458200" cy="245059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3" name="Shape 14"/>
          <p:cNvSpPr/>
          <p:nvPr/>
        </p:nvSpPr>
        <p:spPr>
          <a:xfrm>
            <a:off x="320040" y="2398372"/>
            <a:ext cx="8458200" cy="3840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24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192" y="2444092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0664" y="245323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프로젝트 목적</a:t>
            </a:r>
            <a:endParaRPr lang="en-US" sz="1300" dirty="0"/>
          </a:p>
        </p:txBody>
      </p:sp>
      <p:sp>
        <p:nvSpPr>
          <p:cNvPr id="26" name="Text 16"/>
          <p:cNvSpPr/>
          <p:nvPr/>
        </p:nvSpPr>
        <p:spPr>
          <a:xfrm>
            <a:off x="481987" y="3049372"/>
            <a:ext cx="7960570" cy="152999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Bing 이미지 자동 수집(크롤링)으로 데이터셋 구축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5종 한국 음식 CNN 자동 분류 모델 구현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전/후 인식률 정량 비교 검증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자동화로 크롤링→학습 원스텝 실행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이미지 자동 수집 — food_crawling.py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70916" y="804672"/>
            <a:ext cx="1591056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78737" y="804672"/>
            <a:ext cx="1591056" cy="2926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8737" y="841248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0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478737" y="11338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🍲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15313" y="168249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김치찌개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15313" y="1901952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붉은 국물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07692" y="804672"/>
            <a:ext cx="1591056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15513" y="804672"/>
            <a:ext cx="1591056" cy="2926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15513" y="841248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115513" y="11338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🥘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152089" y="168249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된장찌개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52089" y="1901952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갈색 국물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758787" y="804672"/>
            <a:ext cx="1591056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752289" y="804672"/>
            <a:ext cx="1591056" cy="2926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52289" y="841248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2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752289" y="11338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🍱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788865" y="168249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비빔밥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788865" y="1901952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다채로운 색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83170" y="804672"/>
            <a:ext cx="1591056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89065" y="804672"/>
            <a:ext cx="1591056" cy="2926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89065" y="841248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3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389065" y="11338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🥩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425641" y="168249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삼겹살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25641" y="1901952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구운 고기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7022592" y="804672"/>
            <a:ext cx="1591056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025841" y="804672"/>
            <a:ext cx="1591056" cy="29260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25841" y="841248"/>
            <a:ext cx="15910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 4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7025841" y="1133856"/>
            <a:ext cx="159105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🍜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062417" y="1682496"/>
            <a:ext cx="15179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062417" y="1901952"/>
            <a:ext cx="1517904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노란 면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0040" y="2231136"/>
            <a:ext cx="4846320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20040" y="2231136"/>
            <a:ext cx="4846320" cy="36576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" y="2276856"/>
            <a:ext cx="256032" cy="256032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77240" y="2276856"/>
            <a:ext cx="4251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핵심 코드</a:t>
            </a:r>
            <a:endParaRPr lang="en-US" sz="1300" dirty="0"/>
          </a:p>
        </p:txBody>
      </p:sp>
      <p:sp>
        <p:nvSpPr>
          <p:cNvPr id="37" name="Text 34"/>
          <p:cNvSpPr/>
          <p:nvPr/>
        </p:nvSpPr>
        <p:spPr>
          <a:xfrm>
            <a:off x="457200" y="2688336"/>
            <a:ext cx="4553712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저장 경로: 이 파일 위치 기준으로 자동 설정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BASE_DIR = os.path.join(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os.path.dirname(os.path.abspath(__file__)),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"food_dataset"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한글+영어 이중 검색으로 URL 최대 확보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korean_urls = get_bing_image_urls(driver, '김치찌개', 300)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english_urls= get_bing_image_urls(driver, 'Kimchi jjigae', 300)</a:t>
            </a:r>
            <a:endParaRPr lang="en-US" sz="850" dirty="0"/>
          </a:p>
          <a:p>
            <a:pPr marL="0" indent="0">
              <a:buNone/>
            </a:pP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Train 50장 / Test 10장 자동 분류 저장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train_dir = os.path.join(BASE_DIR,'train',korean_name)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1B2A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test_dir  = os.path.join(BASE_DIR,'test', korean_name)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440680" y="2231136"/>
            <a:ext cx="3383280" cy="2688336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5440680" y="2231136"/>
            <a:ext cx="3383280" cy="36576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2276856"/>
            <a:ext cx="256032" cy="256032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5897880" y="227685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수집 설정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5504688" y="2688336"/>
            <a:ext cx="3246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5559552" y="274320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클래스당 Train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7059168" y="274320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50장</a:t>
            </a:r>
            <a:endParaRPr lang="en-US" sz="1000" dirty="0"/>
          </a:p>
        </p:txBody>
      </p:sp>
      <p:sp>
        <p:nvSpPr>
          <p:cNvPr id="45" name="Shape 41"/>
          <p:cNvSpPr/>
          <p:nvPr/>
        </p:nvSpPr>
        <p:spPr>
          <a:xfrm>
            <a:off x="5504688" y="3035808"/>
            <a:ext cx="3246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5559552" y="3090672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클래스당 Test</a:t>
            </a:r>
            <a:endParaRPr lang="en-US" sz="1000" dirty="0"/>
          </a:p>
        </p:txBody>
      </p:sp>
      <p:sp>
        <p:nvSpPr>
          <p:cNvPr id="47" name="Text 43"/>
          <p:cNvSpPr/>
          <p:nvPr/>
        </p:nvSpPr>
        <p:spPr>
          <a:xfrm>
            <a:off x="7059168" y="3090672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10장</a:t>
            </a:r>
            <a:endParaRPr lang="en-US" sz="1000" dirty="0"/>
          </a:p>
        </p:txBody>
      </p:sp>
      <p:sp>
        <p:nvSpPr>
          <p:cNvPr id="48" name="Shape 44"/>
          <p:cNvSpPr/>
          <p:nvPr/>
        </p:nvSpPr>
        <p:spPr>
          <a:xfrm>
            <a:off x="5504688" y="3383280"/>
            <a:ext cx="3246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9" name="Text 45"/>
          <p:cNvSpPr/>
          <p:nvPr/>
        </p:nvSpPr>
        <p:spPr>
          <a:xfrm>
            <a:off x="5559552" y="3438144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최소 해상도</a:t>
            </a:r>
            <a:endParaRPr lang="en-US" sz="1000" dirty="0"/>
          </a:p>
        </p:txBody>
      </p:sp>
      <p:sp>
        <p:nvSpPr>
          <p:cNvPr id="50" name="Text 46"/>
          <p:cNvSpPr/>
          <p:nvPr/>
        </p:nvSpPr>
        <p:spPr>
          <a:xfrm>
            <a:off x="7059168" y="3438144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150×150px</a:t>
            </a:r>
            <a:endParaRPr lang="en-US" sz="1000" dirty="0"/>
          </a:p>
        </p:txBody>
      </p:sp>
      <p:sp>
        <p:nvSpPr>
          <p:cNvPr id="51" name="Shape 47"/>
          <p:cNvSpPr/>
          <p:nvPr/>
        </p:nvSpPr>
        <p:spPr>
          <a:xfrm>
            <a:off x="5504688" y="3730752"/>
            <a:ext cx="3246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48"/>
          <p:cNvSpPr/>
          <p:nvPr/>
        </p:nvSpPr>
        <p:spPr>
          <a:xfrm>
            <a:off x="5559552" y="378561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 방식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7059168" y="3785616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한글+영어 이중</a:t>
            </a:r>
            <a:endParaRPr lang="en-US" sz="1000" dirty="0"/>
          </a:p>
        </p:txBody>
      </p:sp>
      <p:sp>
        <p:nvSpPr>
          <p:cNvPr id="54" name="Shape 50"/>
          <p:cNvSpPr/>
          <p:nvPr/>
        </p:nvSpPr>
        <p:spPr>
          <a:xfrm>
            <a:off x="5504688" y="4078224"/>
            <a:ext cx="3246120" cy="347472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5" name="Text 51"/>
          <p:cNvSpPr/>
          <p:nvPr/>
        </p:nvSpPr>
        <p:spPr>
          <a:xfrm>
            <a:off x="5559552" y="4133088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 형식</a:t>
            </a:r>
            <a:endParaRPr lang="en-US" sz="1000" dirty="0"/>
          </a:p>
        </p:txBody>
      </p:sp>
      <p:sp>
        <p:nvSpPr>
          <p:cNvPr id="56" name="Text 52"/>
          <p:cNvSpPr/>
          <p:nvPr/>
        </p:nvSpPr>
        <p:spPr>
          <a:xfrm>
            <a:off x="7059168" y="4133088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jpg/png/webp</a:t>
            </a:r>
            <a:endParaRPr lang="en-US" sz="1000" dirty="0"/>
          </a:p>
        </p:txBody>
      </p:sp>
      <p:sp>
        <p:nvSpPr>
          <p:cNvPr id="57" name="Shape 53"/>
          <p:cNvSpPr/>
          <p:nvPr/>
        </p:nvSpPr>
        <p:spPr>
          <a:xfrm>
            <a:off x="5504688" y="4425696"/>
            <a:ext cx="3246120" cy="347472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4"/>
          <p:cNvSpPr/>
          <p:nvPr/>
        </p:nvSpPr>
        <p:spPr>
          <a:xfrm>
            <a:off x="5559552" y="4480560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수집 목표</a:t>
            </a:r>
            <a:endParaRPr lang="en-US" sz="1000" dirty="0"/>
          </a:p>
        </p:txBody>
      </p:sp>
      <p:sp>
        <p:nvSpPr>
          <p:cNvPr id="59" name="Text 55"/>
          <p:cNvSpPr/>
          <p:nvPr/>
        </p:nvSpPr>
        <p:spPr>
          <a:xfrm>
            <a:off x="7059168" y="4480560"/>
            <a:ext cx="16276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약 300장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CNN 모델 설계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667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keon/3-min-pytorch Chapter 5  —  RGB 3채널 + Dropout(0.6) + 경로 자동화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1234440" cy="1298448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" y="1060704"/>
            <a:ext cx="1161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64×64×3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(RGB)</a:t>
            </a:r>
            <a:endParaRPr lang="en-US" sz="9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9344" y="1508760"/>
            <a:ext cx="118872" cy="25603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792224" y="1005840"/>
            <a:ext cx="1234440" cy="1298448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828800" y="1060704"/>
            <a:ext cx="1161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Conv2d(3→16)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k=5, ReLU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MaxPool→30×30</a:t>
            </a:r>
            <a:endParaRPr lang="en-US" sz="9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528" y="1508760"/>
            <a:ext cx="118872" cy="25603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264408" y="1005840"/>
            <a:ext cx="1234440" cy="1298448"/>
          </a:xfrm>
          <a:prstGeom prst="rect">
            <a:avLst/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300984" y="1060704"/>
            <a:ext cx="1161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Conv2d(16→32)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Dropout2d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ReLU·MaxPool→5×5</a:t>
            </a:r>
            <a:endParaRPr lang="en-US" sz="9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3712" y="1508760"/>
            <a:ext cx="118872" cy="25603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4736592" y="1005840"/>
            <a:ext cx="1234440" cy="129844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4773168" y="1060704"/>
            <a:ext cx="1161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800</a:t>
            </a:r>
            <a:endParaRPr lang="en-US" sz="9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1508760"/>
            <a:ext cx="118872" cy="25603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08776" y="1005840"/>
            <a:ext cx="1234440" cy="12984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7" name="Text 11"/>
          <p:cNvSpPr/>
          <p:nvPr/>
        </p:nvSpPr>
        <p:spPr>
          <a:xfrm>
            <a:off x="6245352" y="1060704"/>
            <a:ext cx="1161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FC(800→128)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ReLU·Drop(0.6)</a:t>
            </a:r>
            <a:endParaRPr lang="en-US" sz="9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1508760"/>
            <a:ext cx="118872" cy="256032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7680960" y="1005840"/>
            <a:ext cx="1234440" cy="1298448"/>
          </a:xfrm>
          <a:prstGeom prst="rect">
            <a:avLst/>
          </a:prstGeom>
          <a:solidFill>
            <a:srgbClr val="0D7C3C"/>
          </a:solidFill>
          <a:ln w="12700">
            <a:solidFill>
              <a:srgbClr val="0D7C3C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0" name="Text 13"/>
          <p:cNvSpPr/>
          <p:nvPr/>
        </p:nvSpPr>
        <p:spPr>
          <a:xfrm>
            <a:off x="7717536" y="1060704"/>
            <a:ext cx="1161288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FC(128→5)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50" dirty="0"/>
          </a:p>
        </p:txBody>
      </p:sp>
      <p:sp>
        <p:nvSpPr>
          <p:cNvPr id="21" name="Shape 14"/>
          <p:cNvSpPr/>
          <p:nvPr/>
        </p:nvSpPr>
        <p:spPr>
          <a:xfrm>
            <a:off x="320040" y="2505456"/>
            <a:ext cx="4937760" cy="1097280"/>
          </a:xfrm>
          <a:prstGeom prst="rect">
            <a:avLst/>
          </a:prstGeom>
          <a:solidFill>
            <a:srgbClr val="F0FDF4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22" name="Shape 15"/>
          <p:cNvSpPr/>
          <p:nvPr/>
        </p:nvSpPr>
        <p:spPr>
          <a:xfrm>
            <a:off x="320040" y="2505456"/>
            <a:ext cx="4937760" cy="3108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57200" y="253288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 경로 자동화 — 어디서 실행해도 동작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457200" y="2871216"/>
            <a:ext cx="4663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_BASE     = os.path.dirname(os.path.abspath(__file__))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TRAIN_DIR = os.path.join(_BASE, "food_dataset", "train")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TEST_DIR  = os.path.join(_BASE, "food_dataset", "test")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6653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SAVE_DIR  = _BASE   # 그래프도 같은 폴더에 저장</a:t>
            </a:r>
            <a:endParaRPr lang="en-US" sz="900" dirty="0"/>
          </a:p>
        </p:txBody>
      </p:sp>
      <p:sp>
        <p:nvSpPr>
          <p:cNvPr id="25" name="Text 18"/>
          <p:cNvSpPr/>
          <p:nvPr/>
        </p:nvSpPr>
        <p:spPr>
          <a:xfrm>
            <a:off x="5486400" y="2487168"/>
            <a:ext cx="3291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하이퍼파라미터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504688" y="2834640"/>
            <a:ext cx="3273552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5559552" y="2907792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손실 함수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894576" y="2907792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CrossEntropyLoss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504688" y="3218688"/>
            <a:ext cx="32735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5559552" y="32918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옵티마이저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894576" y="3291840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 lr=0.01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504688" y="3602736"/>
            <a:ext cx="3273552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5559552" y="3675888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6894576" y="367588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5504688" y="3986784"/>
            <a:ext cx="3273552" cy="384048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559552" y="40599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6894576" y="4059936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 (강한 정규화)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5504688" y="4370832"/>
            <a:ext cx="3273552" cy="38404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5559552" y="4443984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에폭/배치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6894576" y="4443984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학습 전 / 후 인식률 비교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22960"/>
            <a:ext cx="3886200" cy="3657600"/>
          </a:xfrm>
          <a:prstGeom prst="rect">
            <a:avLst/>
          </a:prstGeom>
          <a:solidFill>
            <a:srgbClr val="253458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  (Before)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325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초기화 가중치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664208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310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5개 클래스 → 무작위 예측 수준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315968" y="2011680"/>
            <a:ext cx="51206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206240" y="2542032"/>
            <a:ext cx="7315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92040" y="822960"/>
            <a:ext cx="3886200" cy="3657600"/>
          </a:xfrm>
          <a:prstGeom prst="rect">
            <a:avLst/>
          </a:prstGeom>
          <a:solidFill>
            <a:srgbClr val="253458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74920" y="9601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후  (After)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74920" y="13258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· 5 Epochs · Selenium 수집 데이터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1664208"/>
            <a:ext cx="3886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75~85%</a:t>
            </a:r>
            <a:endParaRPr lang="en-US" sz="6400" dirty="0"/>
          </a:p>
        </p:txBody>
      </p:sp>
      <p:sp>
        <p:nvSpPr>
          <p:cNvPr id="15" name="Text 13"/>
          <p:cNvSpPr/>
          <p:nvPr/>
        </p:nvSpPr>
        <p:spPr>
          <a:xfrm>
            <a:off x="4892040" y="292608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74920" y="3310128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≈ Test → 과적합 없음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617720"/>
            <a:ext cx="8412480" cy="329184"/>
          </a:xfrm>
          <a:prstGeom prst="rect">
            <a:avLst/>
          </a:prstGeom>
          <a:solidFill>
            <a:srgbClr val="FB923C">
              <a:alpha val="80000"/>
            </a:srgbClr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654296"/>
            <a:ext cx="8138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약 55~65%p 향상 — Selenium으로 수집한 실제 데이터로 CNN 학습 효과 정량 입증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학습 결과 — Loss &amp; Accuracy 곡선</a:t>
            </a:r>
            <a:endParaRPr lang="en-US" sz="22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804672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/>
        </p:nvGraphicFramePr>
        <p:xfrm>
          <a:off x="4663440" y="804672"/>
          <a:ext cx="402336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365760" y="4160520"/>
            <a:ext cx="8412480" cy="80467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" name="Text 2"/>
          <p:cNvSpPr/>
          <p:nvPr/>
        </p:nvSpPr>
        <p:spPr>
          <a:xfrm>
            <a:off x="548640" y="4233672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관찰: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1691640" y="4224528"/>
            <a:ext cx="694944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Loss ≈ Test Loss — 과적합 없이 안정적 수렴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데이터 증강 효과로 초반 Test Acc &gt; Train Acc (증강된 학습 이미지가 더 어려운 버전)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에폭에서 Test 80% 수준 달성 — Selenium 수집 데이터 기준 양호한 성능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학습 결과 — 혼동 행렬 (Confusion Matrix)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" y="822960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김치찌개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" y="1481328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된장찌개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" y="2139696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비빔밥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" y="2798064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삼겹살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" y="3456432"/>
            <a:ext cx="12344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 rot="1800000">
            <a:off x="137160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김치찌개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 rot="1800000">
            <a:off x="246888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된장찌개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 rot="1800000">
            <a:off x="356616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비빔밥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 rot="1800000">
            <a:off x="466344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삼겹살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 rot="1800000">
            <a:off x="5760720" y="4160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라면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371600" y="822960"/>
            <a:ext cx="1097280" cy="658368"/>
          </a:xfrm>
          <a:prstGeom prst="rect">
            <a:avLst/>
          </a:prstGeom>
          <a:solidFill>
            <a:srgbClr val="0D6E5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71600" y="82296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822960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82296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566160" y="822960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66160" y="82296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63440" y="822960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82296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760720" y="822960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60720" y="822960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371600" y="1481328"/>
            <a:ext cx="1097280" cy="658368"/>
          </a:xfrm>
          <a:prstGeom prst="rect">
            <a:avLst/>
          </a:prstGeom>
          <a:solidFill>
            <a:srgbClr val="FECACA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371600" y="14813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2468880" y="1481328"/>
            <a:ext cx="1097280" cy="658368"/>
          </a:xfrm>
          <a:prstGeom prst="rect">
            <a:avLst/>
          </a:prstGeom>
          <a:solidFill>
            <a:srgbClr val="0D948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68880" y="14813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3566160" y="1481328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66160" y="14813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663440" y="1481328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813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5760720" y="1481328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60720" y="1481328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1371600" y="2139696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0" y="213969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468880" y="2139696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68880" y="213969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3566160" y="2139696"/>
            <a:ext cx="1097280" cy="658368"/>
          </a:xfrm>
          <a:prstGeom prst="rect">
            <a:avLst/>
          </a:prstGeom>
          <a:solidFill>
            <a:srgbClr val="0D6E5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66160" y="213969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4663440" y="2139696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663440" y="213969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760720" y="2139696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760720" y="2139696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371600" y="2798064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371600" y="279806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2468880" y="2798064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468880" y="279806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3566160" y="2798064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66160" y="279806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4663440" y="2798064"/>
            <a:ext cx="1097280" cy="658368"/>
          </a:xfrm>
          <a:prstGeom prst="rect">
            <a:avLst/>
          </a:prstGeom>
          <a:solidFill>
            <a:srgbClr val="0D6E5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63440" y="279806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5760720" y="2798064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60720" y="2798064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1371600" y="3456432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71600" y="345643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2468880" y="3456432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468880" y="345643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3566160" y="3456432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66160" y="345643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4663440" y="3456432"/>
            <a:ext cx="1097280" cy="6583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345643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61" name="Shape 59"/>
          <p:cNvSpPr/>
          <p:nvPr/>
        </p:nvSpPr>
        <p:spPr>
          <a:xfrm>
            <a:off x="5760720" y="3456432"/>
            <a:ext cx="1097280" cy="658368"/>
          </a:xfrm>
          <a:prstGeom prst="rect">
            <a:avLst/>
          </a:prstGeom>
          <a:solidFill>
            <a:srgbClr val="0D6E58"/>
          </a:solidFill>
          <a:ln w="381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760720" y="3456432"/>
            <a:ext cx="10972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 rot="16200000">
            <a:off x="109728" y="1920240"/>
            <a:ext cx="457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2103120" y="46817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7086600" y="804672"/>
            <a:ext cx="1828800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086600" y="804672"/>
            <a:ext cx="1828800" cy="347472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50608" y="822960"/>
            <a:ext cx="1700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7150608" y="1261872"/>
            <a:ext cx="1700784" cy="9144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196328" y="1316736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김치찌개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된장찌개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7196328" y="1764792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국물 색상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유사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7150608" y="2304288"/>
            <a:ext cx="1700784" cy="914400"/>
          </a:xfrm>
          <a:prstGeom prst="rect">
            <a:avLst/>
          </a:prstGeom>
          <a:solidFill>
            <a:srgbClr val="FFF7ED"/>
          </a:solidFill>
          <a:ln w="6350">
            <a:solidFill>
              <a:srgbClr val="FED7A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196328" y="2359152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삼겹살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라면</a:t>
            </a:r>
            <a:endParaRPr lang="en-US" sz="1000" dirty="0"/>
          </a:p>
        </p:txBody>
      </p:sp>
      <p:sp>
        <p:nvSpPr>
          <p:cNvPr id="73" name="Text 71"/>
          <p:cNvSpPr/>
          <p:nvPr/>
        </p:nvSpPr>
        <p:spPr>
          <a:xfrm>
            <a:off x="7196328" y="2807208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붉은 색감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150608" y="3346704"/>
            <a:ext cx="1700784" cy="914400"/>
          </a:xfrm>
          <a:prstGeom prst="rect">
            <a:avLst/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196328" y="3401568"/>
            <a:ext cx="16093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비빔밥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7196328" y="3849624"/>
            <a:ext cx="16093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높은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정확도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65760" y="4645152"/>
            <a:ext cx="841248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78" name="Text 76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김치찌개·된장찌개는 국물 색상이 유사해 오분류 多 — 크롤링 이미지 추가 수집 또는 데이터 증강 강화로 개선 가능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결론 및 기대 효과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86868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68680"/>
            <a:ext cx="274320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3544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9235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 달성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1444752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전 ~20% → 학습 후 75~85%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수집 데이터로 CNN 효과 입증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≈ Test → 과적합 없음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91840" y="86868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291840" y="868680"/>
            <a:ext cx="2743200" cy="457200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923544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67328" y="9235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활용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429000" y="1444752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Selenium으로 Bing 이미지 자동 수집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한글·영어 이중 검색으로 수집량 극대화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__file__ 기반 경로로 원스텝 실행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17920" y="868680"/>
            <a:ext cx="2743200" cy="3291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868680"/>
            <a:ext cx="2743200" cy="45720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923544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93408" y="923544"/>
            <a:ext cx="2148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분석 역량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355080" y="1444752"/>
            <a:ext cx="248716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혼동 행렬로 오분류 패턴 파악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Shirt 계열 유사도 문제 도출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개선 방향 제시 가능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  <a:effectLst>
            <a:outerShdw blurRad="88900" dist="25400" dir="8100000" algn="bl" rotWithShape="0">
              <a:srgbClr val="000000">
                <a:alpha val="14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425696"/>
            <a:ext cx="256032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22960" y="4315968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향후 개선: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822960" y="459028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크롤링 이미지 추가 수집  |  Transfer Learning (ResNet)  |  클래스 5→10종  |  실시간 음식 인식 앱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2743200"/>
            <a:ext cx="3200400" cy="3200400"/>
          </a:xfrm>
          <a:prstGeom prst="ellipse">
            <a:avLst/>
          </a:prstGeom>
          <a:solidFill>
            <a:srgbClr val="253458"/>
          </a:solidFill>
          <a:ln w="12700">
            <a:solidFill>
              <a:srgbClr val="25345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감사합니다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3200400" y="2423160"/>
            <a:ext cx="2743200" cy="36576"/>
          </a:xfrm>
          <a:prstGeom prst="rect">
            <a:avLst/>
          </a:prstGeom>
          <a:solidFill>
            <a:srgbClr val="FB923C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CNN을 활용한 한국 음식 자동 분류  (크롤링 버전)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2971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강우현  202404178  |  인공지능융합공학부</a:t>
            </a:r>
            <a:endParaRPr lang="en-US" sz="12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657600"/>
            <a:ext cx="822960" cy="822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475488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참고: keon/3-min-pytorch  ·  Selenium WebDriver  ·  PyTorch ImageFolder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772</Words>
  <Application>Microsoft Office PowerPoint</Application>
  <PresentationFormat>화면 슬라이드 쇼(16:9)</PresentationFormat>
  <Paragraphs>224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6" baseType="lpstr">
      <vt:lpstr>맑은 고딕</vt:lpstr>
      <vt:lpstr>Arial</vt:lpstr>
      <vt:lpstr>Calibri</vt:lpstr>
      <vt:lpstr>Courier New</vt:lpstr>
      <vt:lpstr>Segoe UI Emoji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음식분류 CNN 발표 v2 (크롤링)</dc:title>
  <dc:subject>PptxGenJS Presentation</dc:subject>
  <dc:creator>강우현 202404178</dc:creator>
  <cp:lastModifiedBy>mskang</cp:lastModifiedBy>
  <cp:revision>3</cp:revision>
  <dcterms:created xsi:type="dcterms:W3CDTF">2026-06-07T03:53:28Z</dcterms:created>
  <dcterms:modified xsi:type="dcterms:W3CDTF">2026-06-07T08:06:32Z</dcterms:modified>
</cp:coreProperties>
</file>