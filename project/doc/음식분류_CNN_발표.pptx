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Loss per Epoch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Loss</c:v>
                </c:pt>
              </c:strCache>
            </c:strRef>
          </c:tx>
          <c:spPr>
            <a:solidFill>
              <a:srgbClr val="F87171"/>
            </a:solidFill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1.52</c:v>
                </c:pt>
                <c:pt idx="1">
                  <c:v>1.28</c:v>
                </c:pt>
                <c:pt idx="2">
                  <c:v>1.1</c:v>
                </c:pt>
                <c:pt idx="3">
                  <c:v>0.96</c:v>
                </c:pt>
                <c:pt idx="4">
                  <c:v>0.85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Loss</c:v>
                </c:pt>
              </c:strCache>
            </c:strRef>
          </c:tx>
          <c:spPr>
            <a:solidFill>
              <a:srgbClr val="FB923C"/>
            </a:solidFill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1.38</c:v>
                </c:pt>
                <c:pt idx="1">
                  <c:v>1.18</c:v>
                </c:pt>
                <c:pt idx="2">
                  <c:v>1.02</c:v>
                </c:pt>
                <c:pt idx="3">
                  <c:v>0.92</c:v>
                </c:pt>
                <c:pt idx="4">
                  <c:v>0.84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Accuracy per Epoch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 (%)</c:v>
                </c:pt>
              </c:strCache>
            </c:strRef>
          </c:tx>
          <c:spPr>
            <a:solidFill>
              <a:srgbClr val="F87171"/>
            </a:solidFill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55</c:v>
                </c:pt>
                <c:pt idx="2">
                  <c:v>64</c:v>
                </c:pt>
                <c:pt idx="3">
                  <c:v>71</c:v>
                </c:pt>
                <c:pt idx="4">
                  <c:v>76.5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 (%)</c:v>
                </c:pt>
              </c:strCache>
            </c:strRef>
          </c:tx>
          <c:spPr>
            <a:solidFill>
              <a:srgbClr val="FB923C"/>
            </a:solidFill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</c:v>
                </c:pt>
                <c:pt idx="1">
                  <c:v>60</c:v>
                </c:pt>
                <c:pt idx="2">
                  <c:v>67</c:v>
                </c:pt>
                <c:pt idx="3">
                  <c:v>74</c:v>
                </c:pt>
                <c:pt idx="4">
                  <c:v>80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-822960"/>
            <a:ext cx="4389120" cy="438912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-274320"/>
            <a:ext cx="3291840" cy="3291840"/>
          </a:xfrm>
          <a:prstGeom prst="ellipse">
            <a:avLst/>
          </a:prstGeom>
          <a:solidFill>
            <a:srgbClr val="FB923C">
              <a:alpha val="20000"/>
            </a:srgbClr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572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인공지능개론  |  기말 프로젝트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1143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 신경망(CNN)을 활용한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365760" y="1664208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음식 자동 분류</a:t>
            </a:r>
            <a:endParaRPr lang="en-US" sz="4200" dirty="0"/>
          </a:p>
        </p:txBody>
      </p:sp>
      <p:sp>
        <p:nvSpPr>
          <p:cNvPr id="9" name="Shape 6"/>
          <p:cNvSpPr/>
          <p:nvPr/>
        </p:nvSpPr>
        <p:spPr>
          <a:xfrm>
            <a:off x="365760" y="2523744"/>
            <a:ext cx="2560320" cy="411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2697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음식 사진 · PyTorch CNN · 학습 전/후 인식률 비교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6576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 순서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412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 · 데이터셋 소개 · Fashion MNIST와 차이점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방법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2180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준비 · 폴더 구조 · 데이터 증강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모델 설계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하이퍼파라미터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2180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비교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가중치 vs 학습 완료 인식률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2412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결과 분석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Loss/Accuracy 곡선 · 혼동 행렬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기대 효과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해석 · 개선 방향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프로젝트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39776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22960"/>
            <a:ext cx="39776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8686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86868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목적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1325880"/>
            <a:ext cx="3657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음식 사진으로 CNN 학습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5종 한국 음식 자동 분류 모델 구축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인식률 정량 비교 검증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 효과 확인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혼동 행렬로 오분류 패턴 분석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82296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822960"/>
            <a:ext cx="4114800" cy="40233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86868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8686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MNIST와 차이점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36592" y="1298448"/>
            <a:ext cx="914400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764024" y="1316736"/>
            <a:ext cx="859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742432" y="1298448"/>
            <a:ext cx="1280160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769864" y="1316736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059168" y="1298448"/>
            <a:ext cx="1627632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086600" y="1316736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프로젝트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736592" y="1664208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764024" y="1700784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742432" y="1664208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769864" y="1700784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제공됨 (자동 다운로드)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059168" y="1664208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086600" y="1700784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사진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4736592" y="2139696"/>
            <a:ext cx="9144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764024" y="2176272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742432" y="2139696"/>
            <a:ext cx="12801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769864" y="2176272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흑백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7059168" y="2139696"/>
            <a:ext cx="1627632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086600" y="2176272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컬러(RGB)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736592" y="2615184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764024" y="2651760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입력채널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742432" y="2615184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769864" y="265176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1채널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7059168" y="2615184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086600" y="2651760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3채널 (R·G·B)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4736592" y="3090672"/>
            <a:ext cx="9144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764024" y="3127248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증강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742432" y="3090672"/>
            <a:ext cx="12801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769864" y="3127248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7059168" y="3090672"/>
            <a:ext cx="1627632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086600" y="3127248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회전·반전·색감 변화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4736592" y="3566160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64024" y="3602736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독창성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5742432" y="3566160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769864" y="3602736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7059168" y="3566160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7086600" y="3602736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 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데이터 수집 방법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국물, 뚜렷한 색상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6596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6596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6596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6596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🥘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0253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0253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갈색 국물, 두부·야채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1188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1188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1188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🍱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64845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4845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다채로운 색, 그릇 형태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25780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5780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5780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🥩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29437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9437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구운 고기, 판 위 배치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0372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0372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🍜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94029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029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노란 면, 빨간 국물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23774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2377440"/>
            <a:ext cx="41148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423160"/>
            <a:ext cx="256032" cy="25603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77240" y="24231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구조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57200" y="2834640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food_dataset/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train/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김치찌개/  (이미지 50~100장)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된장찌개/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비빔밥/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삼겹살/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라면/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김치찌개/  (이미지 10~20장)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된장찌개/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비빔밥/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삼겹살/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라면/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709160" y="23774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709160" y="2377440"/>
            <a:ext cx="41148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423160"/>
            <a:ext cx="256032" cy="256032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166360" y="24231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수집 방법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773168" y="2898648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73168" y="289864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5084064" y="2871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이미지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5084064" y="30906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→ 우클릭 →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클래스당 50~100장 권장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773168" y="3575304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773168" y="35753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/>
          <p:nvPr/>
        </p:nvSpPr>
        <p:spPr>
          <a:xfrm>
            <a:off x="5084064" y="354787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촬영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5084064" y="376732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스마트폰으로 직접 찍은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음식 사진도 사용 가능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4773168" y="4251960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773168" y="42519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5084064" y="422452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5084064" y="444398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코드에서 자동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(회전·반전·밝기 변화)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CNN 모델 설계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6751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Chapter 5  —  RGB 3채널 입력 + Dropout(0.6) 강화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234440" cy="13258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56616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64×64×3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(RGB)</a:t>
            </a:r>
            <a:endParaRPr lang="en-US" sz="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344" y="1536192"/>
            <a:ext cx="118872" cy="256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792224" y="1005840"/>
            <a:ext cx="1234440" cy="13258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828800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Conv2d(3→16)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k=5, ReLU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MaxPool(2)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→30×30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536192"/>
            <a:ext cx="11887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64408" y="1005840"/>
            <a:ext cx="1234440" cy="1325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00984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Conv2d(16→32)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ReLU·MaxPool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→5×5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1536192"/>
            <a:ext cx="118872" cy="2560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736592" y="1005840"/>
            <a:ext cx="1234440" cy="1325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4773168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896" y="1536192"/>
            <a:ext cx="11887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08776" y="1005840"/>
            <a:ext cx="1234440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6245352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FC(800→128)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Dropout(0.6)</a:t>
            </a:r>
            <a:endParaRPr lang="en-US" sz="9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1536192"/>
            <a:ext cx="118872" cy="25603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680960" y="1005840"/>
            <a:ext cx="1234440" cy="1325880"/>
          </a:xfrm>
          <a:prstGeom prst="rect">
            <a:avLst/>
          </a:prstGeom>
          <a:solidFill>
            <a:srgbClr val="0D7C3C"/>
          </a:solidFill>
          <a:ln w="12700">
            <a:solidFill>
              <a:srgbClr val="0D7C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Text 13"/>
          <p:cNvSpPr/>
          <p:nvPr/>
        </p:nvSpPr>
        <p:spPr>
          <a:xfrm>
            <a:off x="7717536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FC(128→5)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21" name="Text 14"/>
          <p:cNvSpPr/>
          <p:nvPr/>
        </p:nvSpPr>
        <p:spPr>
          <a:xfrm>
            <a:off x="457200" y="254203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하이퍼파라미터 설정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365760" y="2926080"/>
            <a:ext cx="18288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20624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항목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2194560" y="2926080"/>
            <a:ext cx="30175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2249424" y="29718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5212080" y="2926080"/>
            <a:ext cx="35661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5266944" y="29718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365760" y="3273552"/>
            <a:ext cx="182880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20624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 함수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2194560" y="3273552"/>
            <a:ext cx="301752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49424" y="334670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CrossEntropyLoss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212080" y="3273552"/>
            <a:ext cx="356616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5266944" y="334670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클래스 분류 최적화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365760" y="3694176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420624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도구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2194560" y="3694176"/>
            <a:ext cx="30175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2249424" y="376732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 (lr=0.01, momentum=0.5)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5212080" y="3694176"/>
            <a:ext cx="35661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266944" y="3767328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교재 동일, 완만한 수렴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65760" y="4114800"/>
            <a:ext cx="182880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20624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2194560" y="4114800"/>
            <a:ext cx="301752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49424" y="418795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 + Dropout(0.6)</a:t>
            </a:r>
            <a:endParaRPr 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5212080" y="4114800"/>
            <a:ext cx="356616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5266944" y="418795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강한 정규화 → 과적합 억제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365760" y="4535424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20624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에폭 / 배치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2194560" y="4535424"/>
            <a:ext cx="30175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2249424" y="460857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Epochs / Batch 16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5212080" y="4535424"/>
            <a:ext cx="35661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266944" y="46085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 데이터에 맞게 배치 축소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학습 전 / 후 인식률 비교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3886200" cy="3566160"/>
          </a:xfrm>
          <a:prstGeom prst="rect">
            <a:avLst/>
          </a:prstGeom>
          <a:solidFill>
            <a:srgbClr val="253458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41248"/>
            <a:ext cx="3886200" cy="1737360"/>
          </a:xfrm>
          <a:prstGeom prst="rect">
            <a:avLst/>
          </a:prstGeom>
          <a:solidFill>
            <a:srgbClr val="253458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578608"/>
            <a:ext cx="3886200" cy="1828800"/>
          </a:xfrm>
          <a:prstGeom prst="rect">
            <a:avLst/>
          </a:prstGeom>
          <a:solidFill>
            <a:srgbClr val="253458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 (Before)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초기화 가중치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64208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(5개 클래스 → 무작위 예측 수준)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20116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187952" y="2542032"/>
            <a:ext cx="768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학습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92040" y="841248"/>
            <a:ext cx="3886200" cy="1737360"/>
          </a:xfrm>
          <a:prstGeom prst="rect">
            <a:avLst/>
          </a:prstGeom>
          <a:solidFill>
            <a:srgbClr val="25345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2578608"/>
            <a:ext cx="3886200" cy="1828800"/>
          </a:xfrm>
          <a:prstGeom prst="rect">
            <a:avLst/>
          </a:prstGeom>
          <a:solidFill>
            <a:srgbClr val="25345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후  (After)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7492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· 5 Epochs · lr=0.01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1664208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75~85%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4590288"/>
            <a:ext cx="8412480" cy="347472"/>
          </a:xfrm>
          <a:prstGeom prst="rect">
            <a:avLst/>
          </a:prstGeom>
          <a:solidFill>
            <a:srgbClr val="FB923C">
              <a:alpha val="8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626864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약 55~65%p 향상 — 직접 수집한 데이터로 CNN 학습 효과 정량 입증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Loss &amp; Accuracy 곡선</a:t>
            </a:r>
            <a:endParaRPr lang="en-US" sz="2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04672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804672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65760" y="4160520"/>
            <a:ext cx="841248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548640" y="42336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관찰: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691640" y="4224528"/>
            <a:ext cx="6949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≈ Test Loss — 과적합 없이 안정적 수렴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증강(회전·반전·색감) 효과로 Test Acc가 Train Acc보다 높게 시작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에폭 이후 Test 80% 수준 달성 — 직접 수집 데이터임을 고려하면 양호한 성능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혼동 행렬 (Confusion Matrix)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" y="82296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" y="148132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2139696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" y="2798064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" y="3456432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 rot="1800000">
            <a:off x="137160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1800000">
            <a:off x="246888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 rot="1800000">
            <a:off x="356616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800000">
            <a:off x="46634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 rot="1800000">
            <a:off x="57607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solidFill>
            <a:srgbClr val="FECACA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solidFill>
            <a:srgbClr val="0D948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 rot="16200000">
            <a:off x="137160" y="1920240"/>
            <a:ext cx="457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103120" y="4663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086600" y="804672"/>
            <a:ext cx="18288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086600" y="804672"/>
            <a:ext cx="1828800" cy="34747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50608" y="822960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7150608" y="1261872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96328" y="1316736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된장찌개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196328" y="176479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국물 색상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유사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150608" y="2304288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96328" y="2359152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라면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96328" y="2807208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색감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150608" y="3346704"/>
            <a:ext cx="1700784" cy="91440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196328" y="3401568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7196328" y="3849624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높은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65760" y="4645152"/>
            <a:ext cx="8412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02920" y="4681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김치찌개·된장찌개는 국물 색상이 유사해 오분류 多 — 더 많은 데이터 수집 또는 데이터 증강 강화로 개선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결론 및 기대 효과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27432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23544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달성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~20% → 학습 후 75~85%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 데이터로 CNN 효과 입증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91840" y="868680"/>
            <a:ext cx="2743200" cy="457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923544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6732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이해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2900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3채널 입력 처리 학습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 채널 정규화 이해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증강의 효과 체감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868680"/>
            <a:ext cx="2743200" cy="4572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2354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9340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역량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이미지 수집·정리 경험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구조 기반 데이터셋 구축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혼동 행렬로 오분류 원인 분석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65760" y="4297680"/>
            <a:ext cx="841248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434840"/>
            <a:ext cx="25603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2960" y="43159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개선 방향: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22960" y="45994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추가 수집  |  Transfer Learning (ResNet 사전 학습 모델 활용)  |  클래스 5→10종 확장  |  실시간 음식 인식 앱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2926080" cy="292608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2423160"/>
            <a:ext cx="2743200" cy="411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60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CNN을 활용한 한국 음식 자동 분류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3657600"/>
            <a:ext cx="822960" cy="822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7548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 ·  PyTorch ImageFolder  ·  3분 딥러닝 파이토치맛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음식 분류 CNN 발표</dc:title>
  <dc:subject>PptxGenJS Presentation</dc:subject>
  <dc:creator>강우현 202404178</dc:creator>
  <cp:lastModifiedBy>강우현 202404178</cp:lastModifiedBy>
  <cp:revision>1</cp:revision>
  <dcterms:created xsi:type="dcterms:W3CDTF">2026-06-04T05:56:56Z</dcterms:created>
  <dcterms:modified xsi:type="dcterms:W3CDTF">2026-06-04T05:56:56Z</dcterms:modified>
</cp:coreProperties>
</file>