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Loss per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E06C75"/>
            </a:solidFill>
            <a:ln w="31750" cap="flat">
              <a:solidFill>
                <a:srgbClr val="E06C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6C75"/>
              </a:solidFill>
              <a:ln w="9525" cap="flat">
                <a:solidFill>
                  <a:srgbClr val="E06C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0.58</c:v>
                </c:pt>
                <c:pt idx="1">
                  <c:v>0.46</c:v>
                </c:pt>
                <c:pt idx="2">
                  <c:v>0.41</c:v>
                </c:pt>
                <c:pt idx="3">
                  <c:v>0.38</c:v>
                </c:pt>
                <c:pt idx="4">
                  <c:v>0.36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Loss</c:v>
                </c:pt>
              </c:strCache>
            </c:strRef>
          </c:tx>
          <c:spPr>
            <a:solidFill>
              <a:srgbClr val="61AFEF"/>
            </a:solidFill>
            <a:ln w="31750" cap="flat">
              <a:solidFill>
                <a:srgbClr val="61AFE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1AFEF"/>
              </a:solidFill>
              <a:ln w="9525" cap="flat">
                <a:solidFill>
                  <a:srgbClr val="61AFE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0.48</c:v>
                </c:pt>
                <c:pt idx="1">
                  <c:v>0.42</c:v>
                </c:pt>
                <c:pt idx="2">
                  <c:v>0.39</c:v>
                </c:pt>
                <c:pt idx="3">
                  <c:v>0.37</c:v>
                </c:pt>
                <c:pt idx="4">
                  <c:v>0.36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Accuracy per Epoch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 (%)</c:v>
                </c:pt>
              </c:strCache>
            </c:strRef>
          </c:tx>
          <c:spPr>
            <a:solidFill>
              <a:srgbClr val="E06C75"/>
            </a:solidFill>
            <a:ln w="31750" cap="flat">
              <a:solidFill>
                <a:srgbClr val="E06C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6C75"/>
              </a:solidFill>
              <a:ln w="9525" cap="flat">
                <a:solidFill>
                  <a:srgbClr val="E06C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78.2</c:v>
                </c:pt>
                <c:pt idx="1">
                  <c:v>82.5</c:v>
                </c:pt>
                <c:pt idx="2">
                  <c:v>84.1</c:v>
                </c:pt>
                <c:pt idx="3">
                  <c:v>85.3</c:v>
                </c:pt>
                <c:pt idx="4">
                  <c:v>86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 (%)</c:v>
                </c:pt>
              </c:strCache>
            </c:strRef>
          </c:tx>
          <c:spPr>
            <a:solidFill>
              <a:srgbClr val="61AFEF"/>
            </a:solidFill>
            <a:ln w="31750" cap="flat">
              <a:solidFill>
                <a:srgbClr val="61AFE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1AFEF"/>
              </a:solidFill>
              <a:ln w="9525" cap="flat">
                <a:solidFill>
                  <a:srgbClr val="61AFE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80.5</c:v>
                </c:pt>
                <c:pt idx="1">
                  <c:v>83.8</c:v>
                </c:pt>
                <c:pt idx="2">
                  <c:v>85.2</c:v>
                </c:pt>
                <c:pt idx="3">
                  <c:v>86.1</c:v>
                </c:pt>
                <c:pt idx="4">
                  <c:v>87.2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253458"/>
          </a:solidFill>
          <a:ln w="12700">
            <a:solidFill>
              <a:srgbClr val="2534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274320"/>
            <a:ext cx="3200400" cy="32004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인공지능개론  |  기말 프로젝트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합성곱 신경망(CNN)을 활용한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패션 아이템 자동 분류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97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MNIST · PyTorch CNN · 학습 전/후 인식률 비교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206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강우현  202404178  |  인공지능융합공학부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474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순서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834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11556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· 목적 · 데이터셋 소개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834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502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505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30428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모델 설계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69748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· 하이퍼파라미터 · 학습 설정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2834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83280"/>
            <a:ext cx="502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393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49300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전/후 비교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88620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 가중치 vs 학습 완료 인식률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1005840"/>
            <a:ext cx="2834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1005840"/>
            <a:ext cx="502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2618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69080" y="111556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결과 분석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69080" y="150876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Loss/Accuracy 곡선 · 혼동 행렬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2194560"/>
            <a:ext cx="2834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2194560"/>
            <a:ext cx="502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505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069080" y="230428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기대 효과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69080" y="269748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해석 · 개선 방향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509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95097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목적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3611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아키텍처의 동작 원리 심층 이해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10종 패션 아이템 자동 분류 모델 구축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전/후 인식률 정량 비교 검증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Matrix로 오분류 패턴 분석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딥러닝 구현 역량 확보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91440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5097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95097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MNIST 데이터셋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754880" y="1463040"/>
            <a:ext cx="3749040" cy="4389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0" y="15270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크기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00800" y="152704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픽셀  흑백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1993392"/>
            <a:ext cx="37490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6320" y="205740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데이터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00800" y="20574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60,000장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54880" y="2523744"/>
            <a:ext cx="3749040" cy="4389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4632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데이터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00800" y="2587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10,000장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54880" y="3054096"/>
            <a:ext cx="37490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46320" y="311810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수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400800" y="31181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10종 (의류·신발·가방)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754880" y="3584448"/>
            <a:ext cx="3749040" cy="4389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46320" y="364845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400800" y="36484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torchvision.datasets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MNIST — 10가지 분류 클래스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572768" cy="1508760"/>
          </a:xfrm>
          <a:prstGeom prst="rect">
            <a:avLst/>
          </a:prstGeom>
          <a:solidFill>
            <a:srgbClr val="253458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54480" y="1014984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024128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98424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T-shirt/top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960120"/>
            <a:ext cx="1572768" cy="1508760"/>
          </a:xfrm>
          <a:prstGeom prst="rect">
            <a:avLst/>
          </a:prstGeom>
          <a:solidFill>
            <a:srgbClr val="253458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14984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24128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1234440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👖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57400" y="198424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Trouser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960120"/>
            <a:ext cx="1572768" cy="1508760"/>
          </a:xfrm>
          <a:prstGeom prst="rect">
            <a:avLst/>
          </a:prstGeom>
          <a:solidFill>
            <a:srgbClr val="253458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14984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24128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1234440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🧥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03320" y="198424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Pullover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960120"/>
            <a:ext cx="1572768" cy="1508760"/>
          </a:xfrm>
          <a:prstGeom prst="rect">
            <a:avLst/>
          </a:prstGeom>
          <a:solidFill>
            <a:srgbClr val="253458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1014984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024128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0" y="1234440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👗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349240" y="198424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960120"/>
            <a:ext cx="1572768" cy="1508760"/>
          </a:xfrm>
          <a:prstGeom prst="rect">
            <a:avLst/>
          </a:prstGeom>
          <a:solidFill>
            <a:srgbClr val="253458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8160" y="1014984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1024128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440" y="1234440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🧣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995160" y="198424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542032"/>
            <a:ext cx="1572768" cy="1508760"/>
          </a:xfrm>
          <a:prstGeom prst="rect">
            <a:avLst/>
          </a:prstGeom>
          <a:solidFill>
            <a:srgbClr val="253458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554480" y="2596896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2606040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2816352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👡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11480" y="356616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11680" y="2542032"/>
            <a:ext cx="1572768" cy="1508760"/>
          </a:xfrm>
          <a:prstGeom prst="rect">
            <a:avLst/>
          </a:prstGeom>
          <a:solidFill>
            <a:srgbClr val="253458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2596896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2606040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11680" y="2816352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👔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2057400" y="356616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0" y="2542032"/>
            <a:ext cx="1572768" cy="1508760"/>
          </a:xfrm>
          <a:prstGeom prst="rect">
            <a:avLst/>
          </a:prstGeom>
          <a:solidFill>
            <a:srgbClr val="253458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2596896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606040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0" y="2816352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👟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3703320" y="356616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03520" y="2542032"/>
            <a:ext cx="1572768" cy="1508760"/>
          </a:xfrm>
          <a:prstGeom prst="rect">
            <a:avLst/>
          </a:prstGeom>
          <a:solidFill>
            <a:srgbClr val="253458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92240" y="2596896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2606040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03520" y="2816352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👜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5349240" y="356616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49440" y="2542032"/>
            <a:ext cx="1572768" cy="1508760"/>
          </a:xfrm>
          <a:prstGeom prst="rect">
            <a:avLst/>
          </a:prstGeom>
          <a:solidFill>
            <a:srgbClr val="253458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138160" y="2596896"/>
            <a:ext cx="301752" cy="3017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0" y="2606040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49440" y="2816352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👢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6995160" y="356616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Ankle boot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CNN 모델 아키텍처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keon/3-min-pytorch Chapter 5 — 원본 구조 기반 + Dropout(0.6) 강화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234440" cy="12801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6616" y="1152144"/>
            <a:ext cx="11612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28×28×1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1600200"/>
            <a:ext cx="128016" cy="228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10512" y="1097280"/>
            <a:ext cx="123444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847088" y="1152144"/>
            <a:ext cx="11612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Conv2d(1→16)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ReLU·MaxPool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→12×12×16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1600200"/>
            <a:ext cx="128016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00984" y="1097280"/>
            <a:ext cx="1234440" cy="1280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337560" y="1152144"/>
            <a:ext cx="11612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Conv2d(16→32)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Dropout·ReLU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→4×4×32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1600200"/>
            <a:ext cx="128016" cy="228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791456" y="1097280"/>
            <a:ext cx="123444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828032" y="1152144"/>
            <a:ext cx="11612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00200"/>
            <a:ext cx="128016" cy="2286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81928" y="1097280"/>
            <a:ext cx="123444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318504" y="1152144"/>
            <a:ext cx="11612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FC(512→128)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Dropout(0.6)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600200"/>
            <a:ext cx="128016" cy="2286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772400" y="1097280"/>
            <a:ext cx="1234440" cy="1280160"/>
          </a:xfrm>
          <a:prstGeom prst="rect">
            <a:avLst/>
          </a:prstGeom>
          <a:solidFill>
            <a:srgbClr val="0D7C3C"/>
          </a:solidFill>
          <a:ln w="12700">
            <a:solidFill>
              <a:srgbClr val="0D7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7808976" y="1152144"/>
            <a:ext cx="11612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FC(128→10)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457200" y="26060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하이퍼파라미터 설정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57200" y="2999232"/>
            <a:ext cx="18288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02920" y="3035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항목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2286000" y="2999232"/>
            <a:ext cx="29260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2331720" y="30358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212080" y="2999232"/>
            <a:ext cx="32004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257800" y="30358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57200" y="3346704"/>
            <a:ext cx="1828800" cy="42062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02920" y="34198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함수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2286000" y="3346704"/>
            <a:ext cx="2926080" cy="42062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331720" y="341985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5212080" y="3346704"/>
            <a:ext cx="3200400" cy="42062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257800" y="341985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클래스 분류에 최적화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57200" y="3767328"/>
            <a:ext cx="18288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02920" y="38404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도구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2286000" y="3767328"/>
            <a:ext cx="29260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331720" y="384048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 (lr=0.01, momentum=0.5)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5212080" y="3767328"/>
            <a:ext cx="3200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257800" y="38404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교재 동일 방식, 완만한 수렴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457200" y="4187952"/>
            <a:ext cx="1828800" cy="42062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02920" y="426110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2286000" y="4187952"/>
            <a:ext cx="2926080" cy="42062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331720" y="426110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Dropout2d + Dropout(0.6)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5212080" y="4187952"/>
            <a:ext cx="3200400" cy="42062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5257800" y="426110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강한 정규화 → 과적합 억제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457200" y="4608576"/>
            <a:ext cx="18288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02920" y="468172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에폭 / 배치</a:t>
            </a:r>
            <a:endParaRPr lang="en-US" sz="1050" dirty="0"/>
          </a:p>
        </p:txBody>
      </p:sp>
      <p:sp>
        <p:nvSpPr>
          <p:cNvPr id="48" name="Shape 41"/>
          <p:cNvSpPr/>
          <p:nvPr/>
        </p:nvSpPr>
        <p:spPr>
          <a:xfrm>
            <a:off x="2286000" y="4608576"/>
            <a:ext cx="29260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2331720" y="468172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 / Batch 64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5212080" y="4608576"/>
            <a:ext cx="3200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257800" y="46817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 85~88% 적정 수준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학습 전 / 후 인식률 비교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solidFill>
            <a:srgbClr val="253458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 (Before Training)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 초기화 가중치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(10개 클래스 → 무작위 예측과 동일)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0624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SGD학습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46320" y="914400"/>
            <a:ext cx="3931920" cy="3474720"/>
          </a:xfrm>
          <a:prstGeom prst="rect">
            <a:avLst/>
          </a:prstGeom>
          <a:solidFill>
            <a:srgbClr val="253458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후 (After Training)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· 5 Epochs · lr=0.01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85~88%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484632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337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격차 최소 → 과적합 없음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60857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약 75~78%p 향상 — 과적합 없이 일반화 성능이 우수한 모델 달성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학습 결과 — Loss &amp; Accuracy 곡선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2296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82296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365760" y="420624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48640" y="42793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관찰: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645920" y="427939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≈ Test Loss → 과적합(Overfitting) 없이 안정적 수렴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Acc와 Test Acc 격차 1~2%p 수준 → 우수한 일반화 성능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에폭에서 Test 87% 수렴 → 학습 효과 명확히 입증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학습 결과 — 혼동 행렬 (Confusion Matrix)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804672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74320" y="1197864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Trouser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1591056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Pullover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4320" y="1984248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2770632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" y="3163824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" y="3557016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3950208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74320" y="4343400"/>
            <a:ext cx="868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A.boot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 rot="2700000">
            <a:off x="1188720" y="4736592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 rot="2700000">
            <a:off x="1947672" y="4736592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Trouser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 rot="2700000">
            <a:off x="2706624" y="4736592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Pullover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 rot="2700000">
            <a:off x="3465576" y="4736592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 rot="2700000">
            <a:off x="4224528" y="4736592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 rot="2700000">
            <a:off x="4983480" y="4736592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 rot="2700000">
            <a:off x="5742432" y="4736592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 rot="2700000">
            <a:off x="6501384" y="4736592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 rot="2700000">
            <a:off x="7260336" y="4736592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 rot="2700000">
            <a:off x="8019288" y="4736592"/>
            <a:ext cx="75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A.boot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188720" y="804672"/>
            <a:ext cx="758952" cy="393192"/>
          </a:xfrm>
          <a:prstGeom prst="rect">
            <a:avLst/>
          </a:prstGeom>
          <a:solidFill>
            <a:srgbClr val="0D9488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804672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947672" y="804672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47672" y="804672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706624" y="804672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06624" y="804672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465576" y="804672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65576" y="804672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224528" y="804672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28" y="804672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983480" y="804672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42432" y="804672"/>
            <a:ext cx="758952" cy="393192"/>
          </a:xfrm>
          <a:prstGeom prst="rect">
            <a:avLst/>
          </a:prstGeom>
          <a:solidFill>
            <a:srgbClr val="FECACA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804672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501384" y="804672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0336" y="804672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0336" y="804672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019288" y="804672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1197864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0" y="1197864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947672" y="1197864"/>
            <a:ext cx="758952" cy="393192"/>
          </a:xfrm>
          <a:prstGeom prst="rect">
            <a:avLst/>
          </a:prstGeom>
          <a:solidFill>
            <a:srgbClr val="0D6E58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47672" y="1197864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706624" y="1197864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06624" y="1197864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465576" y="1197864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65576" y="1197864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224528" y="1197864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24528" y="1197864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983480" y="1197864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42432" y="1197864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42432" y="1197864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501384" y="1197864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60336" y="1197864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19288" y="1197864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88720" y="1591056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88720" y="1591056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947672" y="1591056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47672" y="1591056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706624" y="1591056"/>
            <a:ext cx="758952" cy="393192"/>
          </a:xfrm>
          <a:prstGeom prst="rect">
            <a:avLst/>
          </a:prstGeom>
          <a:solidFill>
            <a:srgbClr val="0D9488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06624" y="1591056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465576" y="1591056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65576" y="1591056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224528" y="1591056"/>
            <a:ext cx="758952" cy="393192"/>
          </a:xfrm>
          <a:prstGeom prst="rect">
            <a:avLst/>
          </a:prstGeom>
          <a:solidFill>
            <a:srgbClr val="FECACA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24528" y="1591056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983480" y="1591056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42432" y="1591056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42432" y="1591056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501384" y="1591056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60336" y="1591056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19288" y="1591056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8720" y="1984248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88720" y="198424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947672" y="198424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947672" y="198424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706624" y="198424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06624" y="198424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3465576" y="1984248"/>
            <a:ext cx="758952" cy="393192"/>
          </a:xfrm>
          <a:prstGeom prst="rect">
            <a:avLst/>
          </a:prstGeom>
          <a:solidFill>
            <a:srgbClr val="0D6E58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65576" y="198424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905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224528" y="1984248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24528" y="198424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983480" y="198424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742432" y="1984248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742432" y="198424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501384" y="198424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260336" y="198424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19288" y="198424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88720" y="2377440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188720" y="2377440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947672" y="2377440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706624" y="2377440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06624" y="2377440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3465576" y="2377440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465576" y="2377440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4224528" y="2377440"/>
            <a:ext cx="758952" cy="393192"/>
          </a:xfrm>
          <a:prstGeom prst="rect">
            <a:avLst/>
          </a:prstGeom>
          <a:solidFill>
            <a:srgbClr val="0D9488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24528" y="2377440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870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4983480" y="2377440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742432" y="2377440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742432" y="2377440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6501384" y="2377440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260336" y="2377440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19288" y="2377440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88720" y="2770632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947672" y="2770632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706624" y="2770632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465576" y="2770632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224528" y="2770632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983480" y="2770632"/>
            <a:ext cx="758952" cy="393192"/>
          </a:xfrm>
          <a:prstGeom prst="rect">
            <a:avLst/>
          </a:prstGeom>
          <a:solidFill>
            <a:srgbClr val="0D6E58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83480" y="2770632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955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5742432" y="2770632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501384" y="2770632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501384" y="2770632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7260336" y="2770632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260336" y="2770632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8019288" y="2770632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019288" y="2770632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1188720" y="3163824"/>
            <a:ext cx="758952" cy="393192"/>
          </a:xfrm>
          <a:prstGeom prst="rect">
            <a:avLst/>
          </a:prstGeom>
          <a:solidFill>
            <a:srgbClr val="FECACA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188720" y="3163824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1947672" y="3163824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947672" y="3163824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2706624" y="3163824"/>
            <a:ext cx="758952" cy="393192"/>
          </a:xfrm>
          <a:prstGeom prst="rect">
            <a:avLst/>
          </a:prstGeom>
          <a:solidFill>
            <a:srgbClr val="FECACA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706624" y="3163824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3465576" y="3163824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465576" y="3163824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4224528" y="3163824"/>
            <a:ext cx="758952" cy="393192"/>
          </a:xfrm>
          <a:prstGeom prst="rect">
            <a:avLst/>
          </a:prstGeom>
          <a:solidFill>
            <a:srgbClr val="FECACA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224528" y="3163824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4983480" y="3163824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742432" y="3163824"/>
            <a:ext cx="758952" cy="393192"/>
          </a:xfrm>
          <a:prstGeom prst="rect">
            <a:avLst/>
          </a:prstGeom>
          <a:solidFill>
            <a:srgbClr val="14B8A6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742432" y="3163824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645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6501384" y="3163824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260336" y="3163824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260336" y="3163824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8019288" y="3163824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88720" y="3557016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947672" y="3557016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706624" y="3557016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465576" y="3557016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224528" y="3557016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983480" y="3557016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983480" y="3557016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5742432" y="3557016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01384" y="3557016"/>
            <a:ext cx="758952" cy="393192"/>
          </a:xfrm>
          <a:prstGeom prst="rect">
            <a:avLst/>
          </a:prstGeom>
          <a:solidFill>
            <a:srgbClr val="0D6E58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501384" y="3557016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958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7260336" y="3557016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019288" y="3557016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019288" y="3557016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1188720" y="395020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188720" y="395020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1947672" y="395020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947672" y="395020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2706624" y="395020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706624" y="395020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3465576" y="395020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3465576" y="395020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4224528" y="395020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224528" y="395020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4983480" y="395020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983480" y="395020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5742432" y="395020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742432" y="395020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6501384" y="395020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501384" y="395020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7260336" y="3950208"/>
            <a:ext cx="758952" cy="393192"/>
          </a:xfrm>
          <a:prstGeom prst="rect">
            <a:avLst/>
          </a:prstGeom>
          <a:solidFill>
            <a:srgbClr val="0D6E58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7260336" y="3950208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956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8019288" y="3950208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88720" y="4343400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947672" y="4343400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706624" y="4343400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465576" y="4343400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224528" y="4343400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983480" y="4343400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983480" y="4343400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5742432" y="4343400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501384" y="4343400"/>
            <a:ext cx="758952" cy="393192"/>
          </a:xfrm>
          <a:prstGeom prst="rect">
            <a:avLst/>
          </a:prstGeom>
          <a:solidFill>
            <a:srgbClr val="FEE2E2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6501384" y="4343400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7260336" y="4343400"/>
            <a:ext cx="758952" cy="393192"/>
          </a:xfrm>
          <a:prstGeom prst="rect">
            <a:avLst/>
          </a:prstGeom>
          <a:solidFill>
            <a:srgbClr val="F8FAFC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7260336" y="4343400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8019288" y="4343400"/>
            <a:ext cx="758952" cy="393192"/>
          </a:xfrm>
          <a:prstGeom prst="rect">
            <a:avLst/>
          </a:prstGeom>
          <a:solidFill>
            <a:srgbClr val="0D6E58"/>
          </a:solidFill>
          <a:ln w="2540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8019288" y="4343400"/>
            <a:ext cx="7589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957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 rot="16200000">
            <a:off x="45720" y="2176272"/>
            <a:ext cx="457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Label</a:t>
            </a:r>
            <a:endParaRPr lang="en-US" sz="1000" dirty="0"/>
          </a:p>
        </p:txBody>
      </p:sp>
      <p:sp>
        <p:nvSpPr>
          <p:cNvPr id="181" name="Text 179"/>
          <p:cNvSpPr/>
          <p:nvPr/>
        </p:nvSpPr>
        <p:spPr>
          <a:xfrm>
            <a:off x="1920240" y="4775911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Label</a:t>
            </a:r>
            <a:endParaRPr lang="en-US" sz="1000" dirty="0"/>
          </a:p>
        </p:txBody>
      </p:sp>
      <p:sp>
        <p:nvSpPr>
          <p:cNvPr id="182" name="Shape 180"/>
          <p:cNvSpPr/>
          <p:nvPr/>
        </p:nvSpPr>
        <p:spPr>
          <a:xfrm>
            <a:off x="274320" y="4663440"/>
            <a:ext cx="8686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457200" y="47000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Shirt(6) ↔ T-shirt·Pullover·Coat 오분류 多 — 시각적 유사성이 높은 클래스, Dropout 강화로 어느 정도 억제됨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결론 및 기대 효과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9264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96926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달성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50876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 ~10% → 학습 후 85~88%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Train≈Test Acc → 과적합 없음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5 Epochs로 효율적 학습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91840" y="914400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969264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67328" y="96926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이해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29000" y="150876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Conv·Pool 특징 추출 원리 학습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Dropout2d 채널 정규화 효과 체감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곡선으로 수렴 과정 시각화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914400"/>
            <a:ext cx="274320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69264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93408" y="96926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역량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355080" y="150876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혼동 행렬로 오분류 패턴 파악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 계열 유사도 문제 도출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방향 제시 가능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65760" y="4251960"/>
            <a:ext cx="8412480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389120"/>
            <a:ext cx="27432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60" y="4279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개선 방향: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22960" y="45445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비율 조정  |  데이터 증강(회전·뒤집기)  |  더 깊은 CNN 구조  |  Grad-CAM 시각화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합성곱 신경망(CNN)을 활용한 패션 아이템 자동 분류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강우현  202404178  |  인공지능융합공학부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65760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keon/3-min-pytorch  ·  PyTorch FashionMNIST  ·  3분 딥러닝 파이토치맛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 MNIST CNN 발표</dc:title>
  <dc:subject>PptxGenJS Presentation</dc:subject>
  <dc:creator>강우현 202404178</dc:creator>
  <cp:lastModifiedBy>강우현 202404178</cp:lastModifiedBy>
  <cp:revision>1</cp:revision>
  <dcterms:created xsi:type="dcterms:W3CDTF">2026-06-03T09:02:11Z</dcterms:created>
  <dcterms:modified xsi:type="dcterms:W3CDTF">2026-06-03T09:02:11Z</dcterms:modified>
</cp:coreProperties>
</file>